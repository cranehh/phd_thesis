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8572500" cy="1238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29B08-3149-B147-B919-5AB43F68C624}" v="7" dt="2026-08-23T14:00:13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>
        <p:scale>
          <a:sx n="133" d="100"/>
          <a:sy n="133" d="100"/>
        </p:scale>
        <p:origin x="520" y="-5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赫 郝" userId="eac1196edf7977d1" providerId="LiveId" clId="{06512E50-0563-545E-8A2D-AA85B947D58D}"/>
    <pc:docChg chg="undo custSel modSld">
      <pc:chgData name="赫 郝" userId="eac1196edf7977d1" providerId="LiveId" clId="{06512E50-0563-545E-8A2D-AA85B947D58D}" dt="2026-08-23T14:00:16.954" v="70" actId="20577"/>
      <pc:docMkLst>
        <pc:docMk/>
      </pc:docMkLst>
      <pc:sldChg chg="addSp delSp modSp mod">
        <pc:chgData name="赫 郝" userId="eac1196edf7977d1" providerId="LiveId" clId="{06512E50-0563-545E-8A2D-AA85B947D58D}" dt="2026-08-23T14:00:16.954" v="70" actId="20577"/>
        <pc:sldMkLst>
          <pc:docMk/>
          <pc:sldMk cId="1137271733" sldId="256"/>
        </pc:sldMkLst>
        <pc:spChg chg="mod">
          <ac:chgData name="赫 郝" userId="eac1196edf7977d1" providerId="LiveId" clId="{06512E50-0563-545E-8A2D-AA85B947D58D}" dt="2026-08-10T14:08:23.124" v="20" actId="20577"/>
          <ac:spMkLst>
            <pc:docMk/>
            <pc:sldMk cId="1137271733" sldId="256"/>
            <ac:spMk id="12" creationId="{AC44D02F-9F43-4862-9EBF-495AEF420BDF}"/>
          </ac:spMkLst>
        </pc:spChg>
        <pc:spChg chg="add mod">
          <ac:chgData name="赫 郝" userId="eac1196edf7977d1" providerId="LiveId" clId="{06512E50-0563-545E-8A2D-AA85B947D58D}" dt="2026-08-10T14:08:14.095" v="13" actId="1076"/>
          <ac:spMkLst>
            <pc:docMk/>
            <pc:sldMk cId="1137271733" sldId="256"/>
            <ac:spMk id="17" creationId="{A91A765A-03CA-34AE-EE22-C435C8B07506}"/>
          </ac:spMkLst>
        </pc:spChg>
        <pc:spChg chg="mod">
          <ac:chgData name="赫 郝" userId="eac1196edf7977d1" providerId="LiveId" clId="{06512E50-0563-545E-8A2D-AA85B947D58D}" dt="2026-08-23T13:59:43.428" v="56"/>
          <ac:spMkLst>
            <pc:docMk/>
            <pc:sldMk cId="1137271733" sldId="256"/>
            <ac:spMk id="22" creationId="{4B557BC9-593A-4DB8-BE3F-47AAB4839FC8}"/>
          </ac:spMkLst>
        </pc:spChg>
        <pc:spChg chg="add mod">
          <ac:chgData name="赫 郝" userId="eac1196edf7977d1" providerId="LiveId" clId="{06512E50-0563-545E-8A2D-AA85B947D58D}" dt="2026-08-10T14:08:45.416" v="51" actId="571"/>
          <ac:spMkLst>
            <pc:docMk/>
            <pc:sldMk cId="1137271733" sldId="256"/>
            <ac:spMk id="23" creationId="{33B75F10-1A36-0229-D973-0870664555A4}"/>
          </ac:spMkLst>
        </pc:spChg>
        <pc:spChg chg="add mod">
          <ac:chgData name="赫 郝" userId="eac1196edf7977d1" providerId="LiveId" clId="{06512E50-0563-545E-8A2D-AA85B947D58D}" dt="2026-08-10T14:08:54.324" v="52" actId="571"/>
          <ac:spMkLst>
            <pc:docMk/>
            <pc:sldMk cId="1137271733" sldId="256"/>
            <ac:spMk id="24" creationId="{105CD4B9-9223-20C9-574D-8B5BB0E12751}"/>
          </ac:spMkLst>
        </pc:spChg>
        <pc:spChg chg="add mod">
          <ac:chgData name="赫 郝" userId="eac1196edf7977d1" providerId="LiveId" clId="{06512E50-0563-545E-8A2D-AA85B947D58D}" dt="2026-08-10T14:09:07.334" v="53" actId="571"/>
          <ac:spMkLst>
            <pc:docMk/>
            <pc:sldMk cId="1137271733" sldId="256"/>
            <ac:spMk id="26" creationId="{998B5FFE-DE7A-8B0C-88A7-89CCD6815007}"/>
          </ac:spMkLst>
        </pc:spChg>
        <pc:spChg chg="add mod">
          <ac:chgData name="赫 郝" userId="eac1196edf7977d1" providerId="LiveId" clId="{06512E50-0563-545E-8A2D-AA85B947D58D}" dt="2026-08-10T14:09:23.091" v="54" actId="571"/>
          <ac:spMkLst>
            <pc:docMk/>
            <pc:sldMk cId="1137271733" sldId="256"/>
            <ac:spMk id="27" creationId="{7587838D-72EC-E98C-0FC2-A0297EEC2369}"/>
          </ac:spMkLst>
        </pc:spChg>
        <pc:spChg chg="mod">
          <ac:chgData name="赫 郝" userId="eac1196edf7977d1" providerId="LiveId" clId="{06512E50-0563-545E-8A2D-AA85B947D58D}" dt="2026-08-10T14:08:26.475" v="29" actId="20577"/>
          <ac:spMkLst>
            <pc:docMk/>
            <pc:sldMk cId="1137271733" sldId="256"/>
            <ac:spMk id="34" creationId="{7B6C9592-6306-446B-90CC-0B1E46844435}"/>
          </ac:spMkLst>
        </pc:spChg>
        <pc:spChg chg="mod">
          <ac:chgData name="赫 郝" userId="eac1196edf7977d1" providerId="LiveId" clId="{06512E50-0563-545E-8A2D-AA85B947D58D}" dt="2026-08-23T14:00:11.144" v="58" actId="108"/>
          <ac:spMkLst>
            <pc:docMk/>
            <pc:sldMk cId="1137271733" sldId="256"/>
            <ac:spMk id="51" creationId="{B350BFC0-4BB2-4332-B450-DEEADC329E98}"/>
          </ac:spMkLst>
        </pc:spChg>
        <pc:spChg chg="mod">
          <ac:chgData name="赫 郝" userId="eac1196edf7977d1" providerId="LiveId" clId="{06512E50-0563-545E-8A2D-AA85B947D58D}" dt="2026-08-23T14:00:16.954" v="70" actId="20577"/>
          <ac:spMkLst>
            <pc:docMk/>
            <pc:sldMk cId="1137271733" sldId="256"/>
            <ac:spMk id="52" creationId="{24B05D47-7CC6-4392-A215-49132A9FE97C}"/>
          </ac:spMkLst>
        </pc:spChg>
        <pc:spChg chg="mod">
          <ac:chgData name="赫 郝" userId="eac1196edf7977d1" providerId="LiveId" clId="{06512E50-0563-545E-8A2D-AA85B947D58D}" dt="2026-08-10T14:08:33.202" v="42" actId="20577"/>
          <ac:spMkLst>
            <pc:docMk/>
            <pc:sldMk cId="1137271733" sldId="256"/>
            <ac:spMk id="64" creationId="{54381265-6358-4D5D-A102-53A3AAF43520}"/>
          </ac:spMkLst>
        </pc:spChg>
        <pc:spChg chg="mod">
          <ac:chgData name="赫 郝" userId="eac1196edf7977d1" providerId="LiveId" clId="{06512E50-0563-545E-8A2D-AA85B947D58D}" dt="2026-08-10T14:08:37.727" v="50" actId="20577"/>
          <ac:spMkLst>
            <pc:docMk/>
            <pc:sldMk cId="1137271733" sldId="256"/>
            <ac:spMk id="84" creationId="{13BE740C-427B-481E-9BEA-D8B4648D4D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/Users/haohe/Library/CloudStorage/OneDrive-个人/研究生阶段/2026/2026_06 博士毕业大论文撰写/0.4【】BJTU-Thesis-Latex-main(1)/0.4【】BJTU-Thesis-Latex-main/chapters/chapter01.tex</a:t>
            </a:r>
          </a:p>
          <a:p>
            <a:r>
              <a:t>- /Users/haohe/Library/CloudStorage/OneDrive-个人/研究生阶段/2026/2026_06 博士毕业大论文撰写/0.4【】BJTU-Thesis-Latex-main(1)/0.4【】BJTU-Thesis-Latex-main/chapters/chapter02.tex</a:t>
            </a:r>
          </a:p>
          <a:p>
            <a:r>
              <a:t>- /Users/haohe/Library/CloudStorage/OneDrive-个人/研究生阶段/2026/2026_06 博士毕业大论文撰写/0.4【】BJTU-Thesis-Latex-main(1)/0.4【】BJTU-Thesis-Latex-main/chapters/chapter03.tex</a:t>
            </a:r>
          </a:p>
          <a:p>
            <a:r>
              <a:t>- /Users/haohe/Library/CloudStorage/OneDrive-个人/研究生阶段/2026/2026_06 博士毕业大论文撰写/0.4【】BJTU-Thesis-Latex-main(1)/0.4【】BJTU-Thesis-Latex-main/chapters/chapter04.tex</a:t>
            </a:r>
          </a:p>
          <a:p>
            <a:r>
              <a:t>- /Users/haohe/Library/CloudStorage/OneDrive-个人/研究生阶段/2026/2026_06 博士毕业大论文撰写/0.4【】BJTU-Thesis-Latex-main(1)/0.4【】BJTU-Thesis-Latex-main/chapters/chapter05.tex</a:t>
            </a:r>
          </a:p>
          <a:p>
            <a:r>
              <a:t>- /Users/haohe/Library/CloudStorage/OneDrive-个人/研究生阶段/2026/2026_06 博士毕业大论文撰写/0.4【】BJTU-Thesis-Latex-main(1)/0.4【】BJTU-Thesis-Latex-main/chapters/chapter06.tex</a:t>
            </a:r>
          </a:p>
          <a:p>
            <a:r>
              <a:t>- /Users/haohe/Library/CloudStorage/OneDrive-个人/研究生阶段/2026/2026_06 博士毕业大论文撰写/0.4【】BJTU-Thesis-Latex-main(1)/0.4【】BJTU-Thesis-Latex-main/chapters/chapter07.tex</a:t>
            </a:r>
          </a:p>
          <a:p>
            <a:r>
              <a:t>- /Users/haohe/Library/CloudStorage/OneDrive-个人/研究生阶段/2026/2026_06 博士毕业大论文撰写/0.4【】BJTU-Thesis-Latex-main(1)/0.4【】BJTU-Thesis-Latex-main/chapters/chapter08.tex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block-ch1-2">
            <a:extLst>
              <a:ext uri="{FF2B5EF4-FFF2-40B4-BE49-F238E27FC236}">
                <a16:creationId xmlns:a16="http://schemas.microsoft.com/office/drawing/2014/main" id="{19AE10F3-4303-4C3C-9F27-EF7043F3C2D9}"/>
              </a:ext>
            </a:extLst>
          </p:cNvPr>
          <p:cNvSpPr>
            <a:spLocks noGrp="1"/>
          </p:cNvSpPr>
          <p:nvPr/>
        </p:nvSpPr>
        <p:spPr>
          <a:xfrm>
            <a:off x="1381125" y="142875"/>
            <a:ext cx="7000875" cy="1095375"/>
          </a:xfrm>
          <a:prstGeom prst="rect">
            <a:avLst/>
          </a:prstGeom>
          <a:noFill/>
          <a:ln w="1095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block-ch3">
            <a:extLst>
              <a:ext uri="{FF2B5EF4-FFF2-40B4-BE49-F238E27FC236}">
                <a16:creationId xmlns:a16="http://schemas.microsoft.com/office/drawing/2014/main" id="{BE5ADE79-CA3B-43A9-BB6C-50323F23360D}"/>
              </a:ext>
            </a:extLst>
          </p:cNvPr>
          <p:cNvSpPr>
            <a:spLocks noGrp="1"/>
          </p:cNvSpPr>
          <p:nvPr/>
        </p:nvSpPr>
        <p:spPr>
          <a:xfrm>
            <a:off x="1381125" y="1381125"/>
            <a:ext cx="7000875" cy="1910378"/>
          </a:xfrm>
          <a:prstGeom prst="rect">
            <a:avLst/>
          </a:prstGeom>
          <a:noFill/>
          <a:ln w="1095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block-ch4">
            <a:extLst>
              <a:ext uri="{FF2B5EF4-FFF2-40B4-BE49-F238E27FC236}">
                <a16:creationId xmlns:a16="http://schemas.microsoft.com/office/drawing/2014/main" id="{8372D5AE-30B4-400C-BE21-2CDC957EBBF6}"/>
              </a:ext>
            </a:extLst>
          </p:cNvPr>
          <p:cNvSpPr>
            <a:spLocks noGrp="1"/>
          </p:cNvSpPr>
          <p:nvPr/>
        </p:nvSpPr>
        <p:spPr>
          <a:xfrm>
            <a:off x="1381125" y="3405803"/>
            <a:ext cx="7000875" cy="1899600"/>
          </a:xfrm>
          <a:prstGeom prst="rect">
            <a:avLst/>
          </a:prstGeom>
          <a:noFill/>
          <a:ln w="1095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block-ch5-6">
            <a:extLst>
              <a:ext uri="{FF2B5EF4-FFF2-40B4-BE49-F238E27FC236}">
                <a16:creationId xmlns:a16="http://schemas.microsoft.com/office/drawing/2014/main" id="{F385926B-96FE-45EC-8ED6-916EBC948EF6}"/>
              </a:ext>
            </a:extLst>
          </p:cNvPr>
          <p:cNvSpPr>
            <a:spLocks noGrp="1"/>
          </p:cNvSpPr>
          <p:nvPr/>
        </p:nvSpPr>
        <p:spPr>
          <a:xfrm>
            <a:off x="1381125" y="5438753"/>
            <a:ext cx="7000875" cy="2667000"/>
          </a:xfrm>
          <a:prstGeom prst="rect">
            <a:avLst/>
          </a:prstGeom>
          <a:noFill/>
          <a:ln w="1095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block-ch7">
            <a:extLst>
              <a:ext uri="{FF2B5EF4-FFF2-40B4-BE49-F238E27FC236}">
                <a16:creationId xmlns:a16="http://schemas.microsoft.com/office/drawing/2014/main" id="{BD89FADC-2DFC-4E90-877B-1A8E12FD2FFD}"/>
              </a:ext>
            </a:extLst>
          </p:cNvPr>
          <p:cNvSpPr>
            <a:spLocks noGrp="1"/>
          </p:cNvSpPr>
          <p:nvPr/>
        </p:nvSpPr>
        <p:spPr>
          <a:xfrm>
            <a:off x="1381125" y="8248628"/>
            <a:ext cx="7000875" cy="4576762"/>
          </a:xfrm>
          <a:prstGeom prst="rect">
            <a:avLst/>
          </a:prstGeom>
          <a:noFill/>
          <a:ln w="1095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block-ch8">
            <a:extLst>
              <a:ext uri="{FF2B5EF4-FFF2-40B4-BE49-F238E27FC236}">
                <a16:creationId xmlns:a16="http://schemas.microsoft.com/office/drawing/2014/main" id="{3BFF72A0-F117-413E-BD93-95B18100CD5F}"/>
              </a:ext>
            </a:extLst>
          </p:cNvPr>
          <p:cNvSpPr>
            <a:spLocks noGrp="1"/>
          </p:cNvSpPr>
          <p:nvPr/>
        </p:nvSpPr>
        <p:spPr>
          <a:xfrm>
            <a:off x="1381125" y="12977790"/>
            <a:ext cx="7000875" cy="371475"/>
          </a:xfrm>
          <a:prstGeom prst="rect">
            <a:avLst/>
          </a:prstGeom>
          <a:noFill/>
          <a:ln w="1095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hase-problem">
            <a:extLst>
              <a:ext uri="{FF2B5EF4-FFF2-40B4-BE49-F238E27FC236}">
                <a16:creationId xmlns:a16="http://schemas.microsoft.com/office/drawing/2014/main" id="{8ACC8857-5FBC-4C51-B2CD-4B8A11637CD6}"/>
              </a:ext>
            </a:extLst>
          </p:cNvPr>
          <p:cNvSpPr>
            <a:spLocks noGrp="1"/>
          </p:cNvSpPr>
          <p:nvPr/>
        </p:nvSpPr>
        <p:spPr>
          <a:xfrm>
            <a:off x="190500" y="438150"/>
            <a:ext cx="895350" cy="514350"/>
          </a:xfrm>
          <a:prstGeom prst="rect">
            <a:avLst/>
          </a:prstGeom>
          <a:solidFill>
            <a:srgbClr val="FFFFFF"/>
          </a:solidFill>
          <a:ln w="10954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350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6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问题</a:t>
            </a:r>
            <a:endParaRPr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1350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6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剖析</a:t>
            </a:r>
            <a:endParaRPr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8" name="phase-foundation">
            <a:extLst>
              <a:ext uri="{FF2B5EF4-FFF2-40B4-BE49-F238E27FC236}">
                <a16:creationId xmlns:a16="http://schemas.microsoft.com/office/drawing/2014/main" id="{3C033DCF-C2EE-471F-9D07-3E9B213A0F24}"/>
              </a:ext>
            </a:extLst>
          </p:cNvPr>
          <p:cNvSpPr>
            <a:spLocks noGrp="1"/>
          </p:cNvSpPr>
          <p:nvPr/>
        </p:nvSpPr>
        <p:spPr>
          <a:xfrm>
            <a:off x="190500" y="3081953"/>
            <a:ext cx="895350" cy="514350"/>
          </a:xfrm>
          <a:prstGeom prst="rect">
            <a:avLst/>
          </a:prstGeom>
          <a:solidFill>
            <a:srgbClr val="FFFFFF"/>
          </a:solidFill>
          <a:ln w="10954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238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数据</a:t>
            </a:r>
            <a:endParaRPr lang="en-US" altLang="zh-CN"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1238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准备</a:t>
            </a:r>
            <a:endParaRPr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9" name="phase-behavior">
            <a:extLst>
              <a:ext uri="{FF2B5EF4-FFF2-40B4-BE49-F238E27FC236}">
                <a16:creationId xmlns:a16="http://schemas.microsoft.com/office/drawing/2014/main" id="{950957FB-E6D8-4144-B317-EA7BAED84DD1}"/>
              </a:ext>
            </a:extLst>
          </p:cNvPr>
          <p:cNvSpPr>
            <a:spLocks noGrp="1"/>
          </p:cNvSpPr>
          <p:nvPr/>
        </p:nvSpPr>
        <p:spPr>
          <a:xfrm>
            <a:off x="190500" y="6515078"/>
            <a:ext cx="895350" cy="514350"/>
          </a:xfrm>
          <a:prstGeom prst="rect">
            <a:avLst/>
          </a:prstGeom>
          <a:solidFill>
            <a:srgbClr val="FFFFFF"/>
          </a:solidFill>
          <a:ln w="10954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 fontScale="97067" lnSpcReduction="10000"/>
          </a:bodyPr>
          <a:lstStyle/>
          <a:p>
            <a:pPr algn="ctr">
              <a:defRPr sz="1163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意愿</a:t>
            </a:r>
            <a:endParaRPr lang="en-US" altLang="zh-CN"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1163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6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解析</a:t>
            </a:r>
            <a:endParaRPr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0" name="phase-optimization">
            <a:extLst>
              <a:ext uri="{FF2B5EF4-FFF2-40B4-BE49-F238E27FC236}">
                <a16:creationId xmlns:a16="http://schemas.microsoft.com/office/drawing/2014/main" id="{2D27EF4F-D0FC-4051-9422-EF2C3123A805}"/>
              </a:ext>
            </a:extLst>
          </p:cNvPr>
          <p:cNvSpPr>
            <a:spLocks noGrp="1"/>
          </p:cNvSpPr>
          <p:nvPr/>
        </p:nvSpPr>
        <p:spPr>
          <a:xfrm>
            <a:off x="190500" y="9839303"/>
            <a:ext cx="895350" cy="514350"/>
          </a:xfrm>
          <a:prstGeom prst="rect">
            <a:avLst/>
          </a:prstGeom>
          <a:solidFill>
            <a:srgbClr val="FFFFFF"/>
          </a:solidFill>
          <a:ln w="10954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350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6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策略</a:t>
            </a:r>
            <a:endParaRPr lang="en-US"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1350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6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优化</a:t>
            </a:r>
            <a:endParaRPr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1" name="phase-summary">
            <a:extLst>
              <a:ext uri="{FF2B5EF4-FFF2-40B4-BE49-F238E27FC236}">
                <a16:creationId xmlns:a16="http://schemas.microsoft.com/office/drawing/2014/main" id="{3C44448D-EF99-4CB6-8D88-93561A4F0248}"/>
              </a:ext>
            </a:extLst>
          </p:cNvPr>
          <p:cNvSpPr>
            <a:spLocks noGrp="1"/>
          </p:cNvSpPr>
          <p:nvPr/>
        </p:nvSpPr>
        <p:spPr>
          <a:xfrm>
            <a:off x="190500" y="12834915"/>
            <a:ext cx="895350" cy="514350"/>
          </a:xfrm>
          <a:prstGeom prst="rect">
            <a:avLst/>
          </a:prstGeom>
          <a:solidFill>
            <a:srgbClr val="FFFFFF"/>
          </a:solidFill>
          <a:ln w="10954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350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6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总结</a:t>
            </a:r>
            <a:endParaRPr lang="en-US"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1350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6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展望</a:t>
            </a:r>
            <a:endParaRPr sz="16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2" name="header-ch1-2">
            <a:extLst>
              <a:ext uri="{FF2B5EF4-FFF2-40B4-BE49-F238E27FC236}">
                <a16:creationId xmlns:a16="http://schemas.microsoft.com/office/drawing/2014/main" id="{AC44D02F-9F43-4862-9EBF-495AEF420BDF}"/>
              </a:ext>
            </a:extLst>
          </p:cNvPr>
          <p:cNvSpPr>
            <a:spLocks noGrp="1"/>
          </p:cNvSpPr>
          <p:nvPr/>
        </p:nvSpPr>
        <p:spPr>
          <a:xfrm>
            <a:off x="1485900" y="190500"/>
            <a:ext cx="6715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275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lang="zh-CN" alt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一、二</a:t>
            </a: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章：绪论与国内外研究现状</a:t>
            </a:r>
            <a:endParaRPr sz="14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3" name="ch12-background">
            <a:extLst>
              <a:ext uri="{FF2B5EF4-FFF2-40B4-BE49-F238E27FC236}">
                <a16:creationId xmlns:a16="http://schemas.microsoft.com/office/drawing/2014/main" id="{6D9AB660-A320-428D-821F-1FE736A4F70E}"/>
              </a:ext>
            </a:extLst>
          </p:cNvPr>
          <p:cNvSpPr>
            <a:spLocks noGrp="1"/>
          </p:cNvSpPr>
          <p:nvPr/>
        </p:nvSpPr>
        <p:spPr>
          <a:xfrm>
            <a:off x="1524000" y="447675"/>
            <a:ext cx="1885950" cy="2952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08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3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研究背景与</a:t>
            </a:r>
            <a:r>
              <a:rPr lang="zh-CN" altLang="en-US" sz="13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意义</a:t>
            </a:r>
            <a:endParaRPr sz="13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4" name="ch12-review">
            <a:extLst>
              <a:ext uri="{FF2B5EF4-FFF2-40B4-BE49-F238E27FC236}">
                <a16:creationId xmlns:a16="http://schemas.microsoft.com/office/drawing/2014/main" id="{5443A456-DFBD-4AC6-BA8B-39FFD42222E0}"/>
              </a:ext>
            </a:extLst>
          </p:cNvPr>
          <p:cNvSpPr>
            <a:spLocks noGrp="1"/>
          </p:cNvSpPr>
          <p:nvPr/>
        </p:nvSpPr>
        <p:spPr>
          <a:xfrm>
            <a:off x="3962400" y="447675"/>
            <a:ext cx="1885950" cy="2952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国内外研究现状</a:t>
            </a:r>
            <a:endParaRPr sz="13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5" name="ch12-objectives">
            <a:extLst>
              <a:ext uri="{FF2B5EF4-FFF2-40B4-BE49-F238E27FC236}">
                <a16:creationId xmlns:a16="http://schemas.microsoft.com/office/drawing/2014/main" id="{789E49D6-F9DD-4E19-9103-AF802754BA86}"/>
              </a:ext>
            </a:extLst>
          </p:cNvPr>
          <p:cNvSpPr>
            <a:spLocks noGrp="1"/>
          </p:cNvSpPr>
          <p:nvPr/>
        </p:nvSpPr>
        <p:spPr>
          <a:xfrm>
            <a:off x="6324600" y="447675"/>
            <a:ext cx="1885950" cy="2952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3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</a:t>
            </a:r>
            <a:r>
              <a:rPr lang="zh-CN" alt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内容与技术路线</a:t>
            </a:r>
            <a:endParaRPr sz="13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6" name="ch12-review-group">
            <a:extLst>
              <a:ext uri="{FF2B5EF4-FFF2-40B4-BE49-F238E27FC236}">
                <a16:creationId xmlns:a16="http://schemas.microsoft.com/office/drawing/2014/main" id="{3F16AAFF-EF62-4364-A222-361FA5D10A81}"/>
              </a:ext>
            </a:extLst>
          </p:cNvPr>
          <p:cNvSpPr>
            <a:spLocks noGrp="1"/>
          </p:cNvSpPr>
          <p:nvPr/>
        </p:nvSpPr>
        <p:spPr>
          <a:xfrm>
            <a:off x="1524000" y="828675"/>
            <a:ext cx="6677025" cy="323850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view-popsyn">
            <a:extLst>
              <a:ext uri="{FF2B5EF4-FFF2-40B4-BE49-F238E27FC236}">
                <a16:creationId xmlns:a16="http://schemas.microsoft.com/office/drawing/2014/main" id="{21D2AAF0-56EA-4661-8109-9D51633ECD43}"/>
              </a:ext>
            </a:extLst>
          </p:cNvPr>
          <p:cNvSpPr>
            <a:spLocks noGrp="1"/>
          </p:cNvSpPr>
          <p:nvPr/>
        </p:nvSpPr>
        <p:spPr>
          <a:xfrm>
            <a:off x="1738312" y="895350"/>
            <a:ext cx="1381125" cy="20002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3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人口合成</a:t>
            </a:r>
          </a:p>
        </p:txBody>
      </p:sp>
      <p:sp>
        <p:nvSpPr>
          <p:cNvPr id="19" name="review-act">
            <a:extLst>
              <a:ext uri="{FF2B5EF4-FFF2-40B4-BE49-F238E27FC236}">
                <a16:creationId xmlns:a16="http://schemas.microsoft.com/office/drawing/2014/main" id="{300CDD49-7122-41BE-BB25-0A440EE1C88C}"/>
              </a:ext>
            </a:extLst>
          </p:cNvPr>
          <p:cNvSpPr>
            <a:spLocks noGrp="1"/>
          </p:cNvSpPr>
          <p:nvPr/>
        </p:nvSpPr>
        <p:spPr>
          <a:xfrm>
            <a:off x="3365638" y="895350"/>
            <a:ext cx="1381125" cy="20002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3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活动计划生成</a:t>
            </a:r>
          </a:p>
        </p:txBody>
      </p:sp>
      <p:sp>
        <p:nvSpPr>
          <p:cNvPr id="20" name="review-adoption">
            <a:extLst>
              <a:ext uri="{FF2B5EF4-FFF2-40B4-BE49-F238E27FC236}">
                <a16:creationId xmlns:a16="http://schemas.microsoft.com/office/drawing/2014/main" id="{3A9C59A0-D574-4038-B372-7E03D91BF623}"/>
              </a:ext>
            </a:extLst>
          </p:cNvPr>
          <p:cNvSpPr>
            <a:spLocks noGrp="1"/>
          </p:cNvSpPr>
          <p:nvPr/>
        </p:nvSpPr>
        <p:spPr>
          <a:xfrm>
            <a:off x="4990272" y="895350"/>
            <a:ext cx="1381125" cy="20002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3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MaaS</a:t>
            </a:r>
            <a:r>
              <a:rPr sz="110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采纳意愿</a:t>
            </a:r>
          </a:p>
        </p:txBody>
      </p:sp>
      <p:sp>
        <p:nvSpPr>
          <p:cNvPr id="21" name="review-promotion">
            <a:extLst>
              <a:ext uri="{FF2B5EF4-FFF2-40B4-BE49-F238E27FC236}">
                <a16:creationId xmlns:a16="http://schemas.microsoft.com/office/drawing/2014/main" id="{9D240CCC-924F-41DC-A089-27AFE6DFFCB1}"/>
              </a:ext>
            </a:extLst>
          </p:cNvPr>
          <p:cNvSpPr>
            <a:spLocks noGrp="1"/>
          </p:cNvSpPr>
          <p:nvPr/>
        </p:nvSpPr>
        <p:spPr>
          <a:xfrm>
            <a:off x="6610350" y="895350"/>
            <a:ext cx="1504950" cy="20002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863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MaaS</a:t>
            </a:r>
            <a:r>
              <a:rPr sz="110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运营与推广策略</a:t>
            </a:r>
          </a:p>
        </p:txBody>
      </p:sp>
      <p:sp>
        <p:nvSpPr>
          <p:cNvPr id="22" name="header-ch3">
            <a:extLst>
              <a:ext uri="{FF2B5EF4-FFF2-40B4-BE49-F238E27FC236}">
                <a16:creationId xmlns:a16="http://schemas.microsoft.com/office/drawing/2014/main" id="{4B557BC9-593A-4DB8-BE3F-47AAB4839FC8}"/>
              </a:ext>
            </a:extLst>
          </p:cNvPr>
          <p:cNvSpPr>
            <a:spLocks noGrp="1"/>
          </p:cNvSpPr>
          <p:nvPr/>
        </p:nvSpPr>
        <p:spPr>
          <a:xfrm>
            <a:off x="1485900" y="1438275"/>
            <a:ext cx="6715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>
              <a:defRPr sz="1275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lang="zh-CN" alt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三</a:t>
            </a: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</a:t>
            </a:r>
            <a:r>
              <a:rPr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：</a:t>
            </a:r>
            <a:r>
              <a:rPr lang="zh-CN" altLang="zh-CN" sz="1275" b="1" dirty="0">
                <a:solidFill>
                  <a:srgbClr val="000000"/>
                </a:solidFill>
                <a:latin typeface="SimSun"/>
              </a:rPr>
              <a:t>面向出行分析的超大城市家庭级人口合成方法</a:t>
            </a:r>
            <a:endParaRPr sz="14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5" name="ch3-diffusion-group">
            <a:extLst>
              <a:ext uri="{FF2B5EF4-FFF2-40B4-BE49-F238E27FC236}">
                <a16:creationId xmlns:a16="http://schemas.microsoft.com/office/drawing/2014/main" id="{DC11958B-317B-4F0C-8D95-3D7C03C2DE97}"/>
              </a:ext>
            </a:extLst>
          </p:cNvPr>
          <p:cNvSpPr>
            <a:spLocks noGrp="1"/>
          </p:cNvSpPr>
          <p:nvPr/>
        </p:nvSpPr>
        <p:spPr>
          <a:xfrm>
            <a:off x="3028949" y="1724024"/>
            <a:ext cx="2359127" cy="1348403"/>
          </a:xfrm>
          <a:prstGeom prst="roundRect">
            <a:avLst>
              <a:gd name="adj" fmla="val 4167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header-ch4">
            <a:extLst>
              <a:ext uri="{FF2B5EF4-FFF2-40B4-BE49-F238E27FC236}">
                <a16:creationId xmlns:a16="http://schemas.microsoft.com/office/drawing/2014/main" id="{7B6C9592-6306-446B-90CC-0B1E46844435}"/>
              </a:ext>
            </a:extLst>
          </p:cNvPr>
          <p:cNvSpPr>
            <a:spLocks noGrp="1"/>
          </p:cNvSpPr>
          <p:nvPr/>
        </p:nvSpPr>
        <p:spPr>
          <a:xfrm>
            <a:off x="1485900" y="3462953"/>
            <a:ext cx="6715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275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lang="zh-CN" alt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四</a:t>
            </a: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章：考虑家庭联合活动的家庭级活动计划生成</a:t>
            </a:r>
            <a:endParaRPr sz="14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8" name="shared-sp-input">
            <a:extLst>
              <a:ext uri="{FF2B5EF4-FFF2-40B4-BE49-F238E27FC236}">
                <a16:creationId xmlns:a16="http://schemas.microsoft.com/office/drawing/2014/main" id="{74577CC5-9F74-40B4-97E0-8D2F6ECDA89E}"/>
              </a:ext>
            </a:extLst>
          </p:cNvPr>
          <p:cNvSpPr>
            <a:spLocks noGrp="1"/>
          </p:cNvSpPr>
          <p:nvPr/>
        </p:nvSpPr>
        <p:spPr>
          <a:xfrm>
            <a:off x="1485900" y="5543528"/>
            <a:ext cx="6800849" cy="304800"/>
          </a:xfrm>
          <a:prstGeom prst="rect">
            <a:avLst/>
          </a:prstGeom>
          <a:solidFill>
            <a:srgbClr val="F5F5F5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50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MaaS 多阶段采纳意愿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调查</a:t>
            </a:r>
          </a:p>
        </p:txBody>
      </p:sp>
      <p:sp>
        <p:nvSpPr>
          <p:cNvPr id="49" name="block-ch5">
            <a:extLst>
              <a:ext uri="{FF2B5EF4-FFF2-40B4-BE49-F238E27FC236}">
                <a16:creationId xmlns:a16="http://schemas.microsoft.com/office/drawing/2014/main" id="{E4A783FC-804A-48DF-9F3F-4D0B89CD35D3}"/>
              </a:ext>
            </a:extLst>
          </p:cNvPr>
          <p:cNvSpPr>
            <a:spLocks noGrp="1"/>
          </p:cNvSpPr>
          <p:nvPr/>
        </p:nvSpPr>
        <p:spPr>
          <a:xfrm>
            <a:off x="1476375" y="5962628"/>
            <a:ext cx="3286125" cy="2047875"/>
          </a:xfrm>
          <a:prstGeom prst="rect">
            <a:avLst/>
          </a:prstGeom>
          <a:noFill/>
          <a:ln w="1095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block-ch6">
            <a:extLst>
              <a:ext uri="{FF2B5EF4-FFF2-40B4-BE49-F238E27FC236}">
                <a16:creationId xmlns:a16="http://schemas.microsoft.com/office/drawing/2014/main" id="{6D8F15C1-6DAE-4A16-AAFC-715A1634E966}"/>
              </a:ext>
            </a:extLst>
          </p:cNvPr>
          <p:cNvSpPr>
            <a:spLocks noGrp="1"/>
          </p:cNvSpPr>
          <p:nvPr/>
        </p:nvSpPr>
        <p:spPr>
          <a:xfrm>
            <a:off x="5000625" y="5962628"/>
            <a:ext cx="3286125" cy="2047875"/>
          </a:xfrm>
          <a:prstGeom prst="rect">
            <a:avLst/>
          </a:prstGeom>
          <a:noFill/>
          <a:ln w="1095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header-ch5">
            <a:extLst>
              <a:ext uri="{FF2B5EF4-FFF2-40B4-BE49-F238E27FC236}">
                <a16:creationId xmlns:a16="http://schemas.microsoft.com/office/drawing/2014/main" id="{B350BFC0-4BB2-4332-B450-DEEADC329E98}"/>
              </a:ext>
            </a:extLst>
          </p:cNvPr>
          <p:cNvSpPr>
            <a:spLocks noGrp="1"/>
          </p:cNvSpPr>
          <p:nvPr/>
        </p:nvSpPr>
        <p:spPr>
          <a:xfrm>
            <a:off x="1581150" y="6029303"/>
            <a:ext cx="304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>
              <a:defRPr sz="1200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lang="zh-CN" alt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五</a:t>
            </a: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</a:t>
            </a:r>
            <a:r>
              <a:rPr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：</a:t>
            </a:r>
            <a:r>
              <a:rPr lang="zh-CN" altLang="zh-CN" sz="14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MaaS多阶段采纳意愿的分阶段建模</a:t>
            </a:r>
            <a:endParaRPr sz="1400" b="1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52" name="header-ch6">
            <a:extLst>
              <a:ext uri="{FF2B5EF4-FFF2-40B4-BE49-F238E27FC236}">
                <a16:creationId xmlns:a16="http://schemas.microsoft.com/office/drawing/2014/main" id="{24B05D47-7CC6-4392-A215-49132A9FE97C}"/>
              </a:ext>
            </a:extLst>
          </p:cNvPr>
          <p:cNvSpPr>
            <a:spLocks noGrp="1"/>
          </p:cNvSpPr>
          <p:nvPr/>
        </p:nvSpPr>
        <p:spPr>
          <a:xfrm>
            <a:off x="5105400" y="6029303"/>
            <a:ext cx="304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>
              <a:defRPr sz="1200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lang="zh-CN" alt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六</a:t>
            </a: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</a:t>
            </a:r>
            <a:r>
              <a:rPr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：</a:t>
            </a:r>
            <a:r>
              <a:rPr lang="zh-CN" altLang="zh-CN" sz="14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MaaS多阶段采纳意愿的</a:t>
            </a:r>
            <a:r>
              <a:rPr lang="zh-CN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一体化</a:t>
            </a:r>
            <a:r>
              <a:rPr lang="zh-CN" altLang="zh-CN" sz="14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建模</a:t>
            </a:r>
            <a:endParaRPr sz="14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53" name="ch5-shift">
            <a:extLst>
              <a:ext uri="{FF2B5EF4-FFF2-40B4-BE49-F238E27FC236}">
                <a16:creationId xmlns:a16="http://schemas.microsoft.com/office/drawing/2014/main" id="{25C2214B-6B83-4BF0-BD3E-24BBA98F9AB7}"/>
              </a:ext>
            </a:extLst>
          </p:cNvPr>
          <p:cNvSpPr>
            <a:spLocks noGrp="1"/>
          </p:cNvSpPr>
          <p:nvPr/>
        </p:nvSpPr>
        <p:spPr>
          <a:xfrm>
            <a:off x="1666875" y="6467453"/>
            <a:ext cx="1698763" cy="371474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单次出行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采纳意愿：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混合潜在分类选择模型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54" name="ch5-index">
            <a:extLst>
              <a:ext uri="{FF2B5EF4-FFF2-40B4-BE49-F238E27FC236}">
                <a16:creationId xmlns:a16="http://schemas.microsoft.com/office/drawing/2014/main" id="{63A30DBA-C96E-4E72-8473-DBC76CEF002C}"/>
              </a:ext>
            </a:extLst>
          </p:cNvPr>
          <p:cNvSpPr>
            <a:spLocks noGrp="1"/>
          </p:cNvSpPr>
          <p:nvPr/>
        </p:nvSpPr>
        <p:spPr>
          <a:xfrm>
            <a:off x="1666875" y="6948222"/>
            <a:ext cx="1698763" cy="431832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转移意愿指数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：对</a:t>
            </a: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多模式出行服务的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初始印象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55" name="ch5-bundle">
            <a:extLst>
              <a:ext uri="{FF2B5EF4-FFF2-40B4-BE49-F238E27FC236}">
                <a16:creationId xmlns:a16="http://schemas.microsoft.com/office/drawing/2014/main" id="{6972ADD2-C52D-4EFC-BDB6-F20DBCE2CF1B}"/>
              </a:ext>
            </a:extLst>
          </p:cNvPr>
          <p:cNvSpPr>
            <a:spLocks noGrp="1"/>
          </p:cNvSpPr>
          <p:nvPr/>
        </p:nvSpPr>
        <p:spPr>
          <a:xfrm>
            <a:off x="1666875" y="7496153"/>
            <a:ext cx="1698763" cy="45720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套餐订阅意愿：考虑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属性无视的潜在分类模型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58" name="ch6-mimic">
            <a:extLst>
              <a:ext uri="{FF2B5EF4-FFF2-40B4-BE49-F238E27FC236}">
                <a16:creationId xmlns:a16="http://schemas.microsoft.com/office/drawing/2014/main" id="{59D5CBE2-DE5F-41AB-ABD3-2D3CF99A06FE}"/>
              </a:ext>
            </a:extLst>
          </p:cNvPr>
          <p:cNvSpPr>
            <a:spLocks noGrp="1"/>
          </p:cNvSpPr>
          <p:nvPr/>
        </p:nvSpPr>
        <p:spPr>
          <a:xfrm>
            <a:off x="5191125" y="6467453"/>
            <a:ext cx="2905125" cy="28575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</a:t>
            </a:r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MIMIC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模型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态度潜变量建模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59" name="ch6-hmm">
            <a:extLst>
              <a:ext uri="{FF2B5EF4-FFF2-40B4-BE49-F238E27FC236}">
                <a16:creationId xmlns:a16="http://schemas.microsoft.com/office/drawing/2014/main" id="{EF9655B5-5147-4CA3-ACF8-3417C8003AA9}"/>
              </a:ext>
            </a:extLst>
          </p:cNvPr>
          <p:cNvSpPr>
            <a:spLocks noGrp="1"/>
          </p:cNvSpPr>
          <p:nvPr/>
        </p:nvSpPr>
        <p:spPr>
          <a:xfrm>
            <a:off x="5191125" y="6870778"/>
            <a:ext cx="2905125" cy="352423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隐马尔可夫模型</a:t>
            </a:r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：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初始状态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形成</a:t>
            </a:r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—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单次选择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—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行为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状态转移</a:t>
            </a:r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—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订阅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60" name="ch6-elasticity">
            <a:extLst>
              <a:ext uri="{FF2B5EF4-FFF2-40B4-BE49-F238E27FC236}">
                <a16:creationId xmlns:a16="http://schemas.microsoft.com/office/drawing/2014/main" id="{584990C5-8F56-483A-B2FE-9B483EA04AC3}"/>
              </a:ext>
            </a:extLst>
          </p:cNvPr>
          <p:cNvSpPr>
            <a:spLocks noGrp="1"/>
          </p:cNvSpPr>
          <p:nvPr/>
        </p:nvSpPr>
        <p:spPr>
          <a:xfrm>
            <a:off x="5191125" y="7329462"/>
            <a:ext cx="2905125" cy="23812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不同行为状态下条件弹性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61" name="ch6-compare">
            <a:extLst>
              <a:ext uri="{FF2B5EF4-FFF2-40B4-BE49-F238E27FC236}">
                <a16:creationId xmlns:a16="http://schemas.microsoft.com/office/drawing/2014/main" id="{E2113A70-4880-48CE-8A23-ACAAC55AEB90}"/>
              </a:ext>
            </a:extLst>
          </p:cNvPr>
          <p:cNvSpPr>
            <a:spLocks noGrp="1"/>
          </p:cNvSpPr>
          <p:nvPr/>
        </p:nvSpPr>
        <p:spPr>
          <a:xfrm>
            <a:off x="5191125" y="7672366"/>
            <a:ext cx="2905125" cy="2571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全周期采纳驱动因素识别</a:t>
            </a:r>
          </a:p>
        </p:txBody>
      </p:sp>
      <p:sp>
        <p:nvSpPr>
          <p:cNvPr id="63" name="paradigm-label">
            <a:extLst>
              <a:ext uri="{FF2B5EF4-FFF2-40B4-BE49-F238E27FC236}">
                <a16:creationId xmlns:a16="http://schemas.microsoft.com/office/drawing/2014/main" id="{538810CE-090F-452C-B830-9D46694DB08E}"/>
              </a:ext>
            </a:extLst>
          </p:cNvPr>
          <p:cNvSpPr>
            <a:spLocks noGrp="1"/>
          </p:cNvSpPr>
          <p:nvPr/>
        </p:nvSpPr>
        <p:spPr>
          <a:xfrm>
            <a:off x="4714875" y="6962753"/>
            <a:ext cx="38100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863" b="0" i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对比分析</a:t>
            </a:r>
            <a:endParaRPr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64" name="header-ch7">
            <a:extLst>
              <a:ext uri="{FF2B5EF4-FFF2-40B4-BE49-F238E27FC236}">
                <a16:creationId xmlns:a16="http://schemas.microsoft.com/office/drawing/2014/main" id="{54381265-6358-4D5D-A102-53A3AAF43520}"/>
              </a:ext>
            </a:extLst>
          </p:cNvPr>
          <p:cNvSpPr>
            <a:spLocks noGrp="1"/>
          </p:cNvSpPr>
          <p:nvPr/>
        </p:nvSpPr>
        <p:spPr>
          <a:xfrm>
            <a:off x="1485900" y="8315303"/>
            <a:ext cx="6715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275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lang="zh-CN" alt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七</a:t>
            </a: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章：基于仿真优化的</a:t>
            </a:r>
            <a:r>
              <a:rPr sz="140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MaaS</a:t>
            </a: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推广策略优化</a:t>
            </a:r>
            <a:endParaRPr sz="14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65" name="ch7-input-micro">
            <a:extLst>
              <a:ext uri="{FF2B5EF4-FFF2-40B4-BE49-F238E27FC236}">
                <a16:creationId xmlns:a16="http://schemas.microsoft.com/office/drawing/2014/main" id="{14C59B10-8095-48B7-856C-A2D68438A056}"/>
              </a:ext>
            </a:extLst>
          </p:cNvPr>
          <p:cNvSpPr>
            <a:spLocks noGrp="1"/>
          </p:cNvSpPr>
          <p:nvPr/>
        </p:nvSpPr>
        <p:spPr>
          <a:xfrm>
            <a:off x="1524000" y="8582003"/>
            <a:ext cx="2047875" cy="333375"/>
          </a:xfrm>
          <a:prstGeom prst="rect">
            <a:avLst/>
          </a:prstGeom>
          <a:solidFill>
            <a:srgbClr val="F5F5F5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9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sz="11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3</a:t>
            </a:r>
            <a:r>
              <a:rPr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</a:t>
            </a:r>
          </a:p>
          <a:p>
            <a:pPr algn="ctr">
              <a:defRPr sz="99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城市级虚拟人口</a:t>
            </a:r>
            <a:endParaRPr sz="11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66" name="ch7-input-staged">
            <a:extLst>
              <a:ext uri="{FF2B5EF4-FFF2-40B4-BE49-F238E27FC236}">
                <a16:creationId xmlns:a16="http://schemas.microsoft.com/office/drawing/2014/main" id="{42EC1CD4-05E6-4F85-8CC5-0CDF9330248D}"/>
              </a:ext>
            </a:extLst>
          </p:cNvPr>
          <p:cNvSpPr>
            <a:spLocks noGrp="1"/>
          </p:cNvSpPr>
          <p:nvPr/>
        </p:nvSpPr>
        <p:spPr>
          <a:xfrm>
            <a:off x="3743325" y="8582003"/>
            <a:ext cx="2047875" cy="333375"/>
          </a:xfrm>
          <a:prstGeom prst="rect">
            <a:avLst/>
          </a:prstGeom>
          <a:solidFill>
            <a:srgbClr val="F5F5F5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9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lang="en-US" altLang="zh-CN"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4</a:t>
            </a:r>
            <a:r>
              <a:rPr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</a:t>
            </a:r>
            <a:endParaRPr lang="en-US" sz="11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>
              <a:defRPr sz="99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城市级活动计划</a:t>
            </a:r>
          </a:p>
        </p:txBody>
      </p:sp>
      <p:sp>
        <p:nvSpPr>
          <p:cNvPr id="67" name="ch7-input-integrated">
            <a:extLst>
              <a:ext uri="{FF2B5EF4-FFF2-40B4-BE49-F238E27FC236}">
                <a16:creationId xmlns:a16="http://schemas.microsoft.com/office/drawing/2014/main" id="{8B586542-1B23-40DD-B611-3A7A9C3E0570}"/>
              </a:ext>
            </a:extLst>
          </p:cNvPr>
          <p:cNvSpPr>
            <a:spLocks noGrp="1"/>
          </p:cNvSpPr>
          <p:nvPr/>
        </p:nvSpPr>
        <p:spPr>
          <a:xfrm>
            <a:off x="5962650" y="8582003"/>
            <a:ext cx="2114550" cy="333375"/>
          </a:xfrm>
          <a:prstGeom prst="rect">
            <a:avLst/>
          </a:prstGeom>
          <a:solidFill>
            <a:srgbClr val="F5F5F5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9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lang="en-US" altLang="zh-CN"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5</a:t>
            </a:r>
            <a:r>
              <a:rPr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</a:t>
            </a:r>
          </a:p>
          <a:p>
            <a:pPr algn="ctr">
              <a:defRPr sz="99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多阶段行为机理</a:t>
            </a:r>
          </a:p>
        </p:txBody>
      </p:sp>
      <p:sp>
        <p:nvSpPr>
          <p:cNvPr id="68" name="ch7-strategy-space">
            <a:extLst>
              <a:ext uri="{FF2B5EF4-FFF2-40B4-BE49-F238E27FC236}">
                <a16:creationId xmlns:a16="http://schemas.microsoft.com/office/drawing/2014/main" id="{5F88C4FE-2DE1-4AB4-B961-63291ED07FBA}"/>
              </a:ext>
            </a:extLst>
          </p:cNvPr>
          <p:cNvSpPr>
            <a:spLocks noGrp="1"/>
          </p:cNvSpPr>
          <p:nvPr/>
        </p:nvSpPr>
        <p:spPr>
          <a:xfrm>
            <a:off x="1524000" y="9134453"/>
            <a:ext cx="1809750" cy="5238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动态推广策略空间</a:t>
            </a:r>
            <a:endParaRPr sz="1100" b="1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6阶段×5分区×11变量</a:t>
            </a:r>
          </a:p>
        </p:txBody>
      </p:sp>
      <p:sp>
        <p:nvSpPr>
          <p:cNvPr id="69" name="ch7-abm-group">
            <a:extLst>
              <a:ext uri="{FF2B5EF4-FFF2-40B4-BE49-F238E27FC236}">
                <a16:creationId xmlns:a16="http://schemas.microsoft.com/office/drawing/2014/main" id="{CCEE4E29-6CED-4295-A9BA-B2E3186EE185}"/>
              </a:ext>
            </a:extLst>
          </p:cNvPr>
          <p:cNvSpPr>
            <a:spLocks noGrp="1"/>
          </p:cNvSpPr>
          <p:nvPr/>
        </p:nvSpPr>
        <p:spPr>
          <a:xfrm>
            <a:off x="3524250" y="9048728"/>
            <a:ext cx="4572000" cy="695325"/>
          </a:xfrm>
          <a:prstGeom prst="roundRect">
            <a:avLst>
              <a:gd name="adj" fmla="val 2740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ch7-abm-title">
            <a:extLst>
              <a:ext uri="{FF2B5EF4-FFF2-40B4-BE49-F238E27FC236}">
                <a16:creationId xmlns:a16="http://schemas.microsoft.com/office/drawing/2014/main" id="{656EED89-8E36-4ACD-8C34-348031EBF448}"/>
              </a:ext>
            </a:extLst>
          </p:cNvPr>
          <p:cNvSpPr>
            <a:spLocks noGrp="1"/>
          </p:cNvSpPr>
          <p:nvPr/>
        </p:nvSpPr>
        <p:spPr>
          <a:xfrm>
            <a:off x="4522297" y="9078091"/>
            <a:ext cx="2485417" cy="1619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93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1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基于多智能体仿真的推广策略评估模型</a:t>
            </a:r>
          </a:p>
        </p:txBody>
      </p:sp>
      <p:sp>
        <p:nvSpPr>
          <p:cNvPr id="71" name="ch7-awareness">
            <a:extLst>
              <a:ext uri="{FF2B5EF4-FFF2-40B4-BE49-F238E27FC236}">
                <a16:creationId xmlns:a16="http://schemas.microsoft.com/office/drawing/2014/main" id="{86C34190-E1B7-448C-B67B-C53FF80413D2}"/>
              </a:ext>
            </a:extLst>
          </p:cNvPr>
          <p:cNvSpPr>
            <a:spLocks noGrp="1"/>
          </p:cNvSpPr>
          <p:nvPr/>
        </p:nvSpPr>
        <p:spPr>
          <a:xfrm>
            <a:off x="3629025" y="9310665"/>
            <a:ext cx="809625" cy="3333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认知扩散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72" name="ch7-adoption">
            <a:extLst>
              <a:ext uri="{FF2B5EF4-FFF2-40B4-BE49-F238E27FC236}">
                <a16:creationId xmlns:a16="http://schemas.microsoft.com/office/drawing/2014/main" id="{D43F85BC-4929-4AF5-ACE7-58A3127A9E7D}"/>
              </a:ext>
            </a:extLst>
          </p:cNvPr>
          <p:cNvSpPr>
            <a:spLocks noGrp="1"/>
          </p:cNvSpPr>
          <p:nvPr/>
        </p:nvSpPr>
        <p:spPr>
          <a:xfrm>
            <a:off x="4582450" y="9310665"/>
            <a:ext cx="1008453" cy="3333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试用</a:t>
            </a:r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—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订阅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—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套餐选择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73" name="ch7-churn">
            <a:extLst>
              <a:ext uri="{FF2B5EF4-FFF2-40B4-BE49-F238E27FC236}">
                <a16:creationId xmlns:a16="http://schemas.microsoft.com/office/drawing/2014/main" id="{4C2D5160-F649-4EDE-92EA-14ABD093A4B8}"/>
              </a:ext>
            </a:extLst>
          </p:cNvPr>
          <p:cNvSpPr>
            <a:spLocks noGrp="1"/>
          </p:cNvSpPr>
          <p:nvPr/>
        </p:nvSpPr>
        <p:spPr>
          <a:xfrm>
            <a:off x="5734703" y="9310665"/>
            <a:ext cx="823913" cy="3333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en-US"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用户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留存与流失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74" name="ch7-objectives">
            <a:extLst>
              <a:ext uri="{FF2B5EF4-FFF2-40B4-BE49-F238E27FC236}">
                <a16:creationId xmlns:a16="http://schemas.microsoft.com/office/drawing/2014/main" id="{8A6B3490-3DEE-4529-8603-48129C0B88E6}"/>
              </a:ext>
            </a:extLst>
          </p:cNvPr>
          <p:cNvSpPr>
            <a:spLocks noGrp="1"/>
          </p:cNvSpPr>
          <p:nvPr/>
        </p:nvSpPr>
        <p:spPr>
          <a:xfrm>
            <a:off x="6693694" y="9310665"/>
            <a:ext cx="1338262" cy="3333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采纳率</a:t>
            </a:r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—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净收入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—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碳减排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多目标</a:t>
            </a:r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核算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75" name="ch7-surrogate-group">
            <a:extLst>
              <a:ext uri="{FF2B5EF4-FFF2-40B4-BE49-F238E27FC236}">
                <a16:creationId xmlns:a16="http://schemas.microsoft.com/office/drawing/2014/main" id="{92A43742-531C-496E-B375-637FE4A37401}"/>
              </a:ext>
            </a:extLst>
          </p:cNvPr>
          <p:cNvSpPr>
            <a:spLocks noGrp="1"/>
          </p:cNvSpPr>
          <p:nvPr/>
        </p:nvSpPr>
        <p:spPr>
          <a:xfrm>
            <a:off x="1524000" y="9877402"/>
            <a:ext cx="6572250" cy="1609746"/>
          </a:xfrm>
          <a:prstGeom prst="roundRect">
            <a:avLst>
              <a:gd name="adj" fmla="val 2500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ch7-surrogate-title">
            <a:extLst>
              <a:ext uri="{FF2B5EF4-FFF2-40B4-BE49-F238E27FC236}">
                <a16:creationId xmlns:a16="http://schemas.microsoft.com/office/drawing/2014/main" id="{3D52A1BA-8B08-4501-9C78-BFBBE13EC203}"/>
              </a:ext>
            </a:extLst>
          </p:cNvPr>
          <p:cNvSpPr>
            <a:spLocks noGrp="1"/>
          </p:cNvSpPr>
          <p:nvPr/>
        </p:nvSpPr>
        <p:spPr>
          <a:xfrm>
            <a:off x="3619500" y="9901359"/>
            <a:ext cx="2381250" cy="1619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仿真优化问题构建与代理模型设计</a:t>
            </a:r>
            <a:endParaRPr sz="1100" b="1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ch7-hybrid-surrogate">
            <a:extLst>
              <a:ext uri="{FF2B5EF4-FFF2-40B4-BE49-F238E27FC236}">
                <a16:creationId xmlns:a16="http://schemas.microsoft.com/office/drawing/2014/main" id="{D2B683F3-4378-400A-9A1B-84C2EE1B4EBC}"/>
              </a:ext>
            </a:extLst>
          </p:cNvPr>
          <p:cNvSpPr>
            <a:spLocks noGrp="1"/>
          </p:cNvSpPr>
          <p:nvPr/>
        </p:nvSpPr>
        <p:spPr>
          <a:xfrm>
            <a:off x="1581149" y="10511355"/>
            <a:ext cx="3133725" cy="937613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/>
            <a:endParaRPr sz="1100" b="1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84" name="header-ch8">
            <a:extLst>
              <a:ext uri="{FF2B5EF4-FFF2-40B4-BE49-F238E27FC236}">
                <a16:creationId xmlns:a16="http://schemas.microsoft.com/office/drawing/2014/main" id="{13BE740C-427B-481E-9BEA-D8B4648D4DF4}"/>
              </a:ext>
            </a:extLst>
          </p:cNvPr>
          <p:cNvSpPr>
            <a:spLocks noGrp="1"/>
          </p:cNvSpPr>
          <p:nvPr/>
        </p:nvSpPr>
        <p:spPr>
          <a:xfrm>
            <a:off x="1485900" y="1304446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275" b="1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第</a:t>
            </a:r>
            <a:r>
              <a:rPr lang="zh-CN" altLang="en-US" sz="14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八</a:t>
            </a:r>
            <a:r>
              <a:rPr sz="1400" dirty="0" err="1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章：总结与展望</a:t>
            </a:r>
            <a:endParaRPr sz="1400" dirty="0"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85" name="ch8-summary">
            <a:extLst>
              <a:ext uri="{FF2B5EF4-FFF2-40B4-BE49-F238E27FC236}">
                <a16:creationId xmlns:a16="http://schemas.microsoft.com/office/drawing/2014/main" id="{993AA8B7-7207-4E69-9508-B8F673476827}"/>
              </a:ext>
            </a:extLst>
          </p:cNvPr>
          <p:cNvSpPr>
            <a:spLocks noGrp="1"/>
          </p:cNvSpPr>
          <p:nvPr/>
        </p:nvSpPr>
        <p:spPr>
          <a:xfrm>
            <a:off x="3743325" y="13025415"/>
            <a:ext cx="1333500" cy="28575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研究总结</a:t>
            </a:r>
          </a:p>
        </p:txBody>
      </p:sp>
      <p:sp>
        <p:nvSpPr>
          <p:cNvPr id="86" name="ch8-innovation">
            <a:extLst>
              <a:ext uri="{FF2B5EF4-FFF2-40B4-BE49-F238E27FC236}">
                <a16:creationId xmlns:a16="http://schemas.microsoft.com/office/drawing/2014/main" id="{13BBC999-0D48-4F3D-A4AF-A3D8D29F1977}"/>
              </a:ext>
            </a:extLst>
          </p:cNvPr>
          <p:cNvSpPr>
            <a:spLocks noGrp="1"/>
          </p:cNvSpPr>
          <p:nvPr/>
        </p:nvSpPr>
        <p:spPr>
          <a:xfrm>
            <a:off x="5314950" y="13025415"/>
            <a:ext cx="1190625" cy="28575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创新点</a:t>
            </a:r>
          </a:p>
        </p:txBody>
      </p:sp>
      <p:sp>
        <p:nvSpPr>
          <p:cNvPr id="87" name="ch8-outlook">
            <a:extLst>
              <a:ext uri="{FF2B5EF4-FFF2-40B4-BE49-F238E27FC236}">
                <a16:creationId xmlns:a16="http://schemas.microsoft.com/office/drawing/2014/main" id="{253F5164-3173-482C-A6F4-7FB5451C1E35}"/>
              </a:ext>
            </a:extLst>
          </p:cNvPr>
          <p:cNvSpPr>
            <a:spLocks noGrp="1"/>
          </p:cNvSpPr>
          <p:nvPr/>
        </p:nvSpPr>
        <p:spPr>
          <a:xfrm>
            <a:off x="6743700" y="13025415"/>
            <a:ext cx="1333500" cy="28575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10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研究展望</a:t>
            </a:r>
          </a:p>
        </p:txBody>
      </p:sp>
      <p:cxnSp>
        <p:nvCxnSpPr>
          <p:cNvPr id="220" name="直线箭头连接符 219"/>
          <p:cNvCxnSpPr>
            <a:stCxn id="7" idx="2"/>
            <a:endCxn id="8" idx="0"/>
          </p:cNvCxnSpPr>
          <p:nvPr/>
        </p:nvCxnSpPr>
        <p:spPr>
          <a:xfrm>
            <a:off x="638175" y="952500"/>
            <a:ext cx="0" cy="2129453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21" name="直线箭头连接符 220"/>
          <p:cNvCxnSpPr>
            <a:stCxn id="8" idx="2"/>
            <a:endCxn id="9" idx="0"/>
          </p:cNvCxnSpPr>
          <p:nvPr/>
        </p:nvCxnSpPr>
        <p:spPr>
          <a:xfrm>
            <a:off x="638175" y="3596303"/>
            <a:ext cx="0" cy="2918775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22" name="直线箭头连接符 221"/>
          <p:cNvCxnSpPr>
            <a:stCxn id="9" idx="2"/>
            <a:endCxn id="10" idx="0"/>
          </p:cNvCxnSpPr>
          <p:nvPr/>
        </p:nvCxnSpPr>
        <p:spPr>
          <a:xfrm>
            <a:off x="638175" y="7029428"/>
            <a:ext cx="0" cy="2809875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23" name="直线箭头连接符 222"/>
          <p:cNvCxnSpPr>
            <a:stCxn id="10" idx="2"/>
            <a:endCxn id="11" idx="0"/>
          </p:cNvCxnSpPr>
          <p:nvPr/>
        </p:nvCxnSpPr>
        <p:spPr>
          <a:xfrm>
            <a:off x="638175" y="10353653"/>
            <a:ext cx="0" cy="2481262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24" name="直线箭头连接符 223"/>
          <p:cNvCxnSpPr>
            <a:stCxn id="13" idx="3"/>
            <a:endCxn id="14" idx="1"/>
          </p:cNvCxnSpPr>
          <p:nvPr/>
        </p:nvCxnSpPr>
        <p:spPr>
          <a:xfrm>
            <a:off x="3409950" y="595313"/>
            <a:ext cx="552450" cy="0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25" name="直线箭头连接符 224"/>
          <p:cNvCxnSpPr>
            <a:stCxn id="14" idx="3"/>
            <a:endCxn id="15" idx="1"/>
          </p:cNvCxnSpPr>
          <p:nvPr/>
        </p:nvCxnSpPr>
        <p:spPr>
          <a:xfrm>
            <a:off x="5848350" y="595313"/>
            <a:ext cx="476250" cy="0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26" name="肘形连接符 225"/>
          <p:cNvCxnSpPr>
            <a:stCxn id="14" idx="2"/>
            <a:endCxn id="20" idx="0"/>
          </p:cNvCxnSpPr>
          <p:nvPr/>
        </p:nvCxnSpPr>
        <p:spPr>
          <a:xfrm rot="16200000" flipH="1">
            <a:off x="5216905" y="431420"/>
            <a:ext cx="152400" cy="775460"/>
          </a:xfrm>
          <a:prstGeom prst="bentConnector3">
            <a:avLst>
              <a:gd name="adj1" fmla="val 2826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42" name="肘形连接符 241"/>
          <p:cNvCxnSpPr>
            <a:cxnSpLocks/>
            <a:stCxn id="48" idx="2"/>
            <a:endCxn id="49" idx="0"/>
          </p:cNvCxnSpPr>
          <p:nvPr/>
        </p:nvCxnSpPr>
        <p:spPr>
          <a:xfrm rot="5400000">
            <a:off x="3945732" y="5022035"/>
            <a:ext cx="114300" cy="1766887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43" name="肘形连接符 242"/>
          <p:cNvCxnSpPr>
            <a:cxnSpLocks/>
            <a:stCxn id="48" idx="2"/>
            <a:endCxn id="50" idx="0"/>
          </p:cNvCxnSpPr>
          <p:nvPr/>
        </p:nvCxnSpPr>
        <p:spPr>
          <a:xfrm rot="16200000" flipH="1">
            <a:off x="5707856" y="5026796"/>
            <a:ext cx="114300" cy="1757363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44" name="直线箭头连接符 243"/>
          <p:cNvCxnSpPr>
            <a:cxnSpLocks/>
            <a:stCxn id="53" idx="2"/>
            <a:endCxn id="54" idx="0"/>
          </p:cNvCxnSpPr>
          <p:nvPr/>
        </p:nvCxnSpPr>
        <p:spPr>
          <a:xfrm>
            <a:off x="2516257" y="6838927"/>
            <a:ext cx="0" cy="109295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45" name="直线箭头连接符 244"/>
          <p:cNvCxnSpPr>
            <a:cxnSpLocks/>
            <a:stCxn id="54" idx="2"/>
            <a:endCxn id="55" idx="0"/>
          </p:cNvCxnSpPr>
          <p:nvPr/>
        </p:nvCxnSpPr>
        <p:spPr>
          <a:xfrm>
            <a:off x="2516257" y="7380054"/>
            <a:ext cx="0" cy="116099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47" name="直线箭头连接符 246"/>
          <p:cNvCxnSpPr>
            <a:cxnSpLocks/>
            <a:stCxn id="58" idx="2"/>
            <a:endCxn id="59" idx="0"/>
          </p:cNvCxnSpPr>
          <p:nvPr/>
        </p:nvCxnSpPr>
        <p:spPr>
          <a:xfrm>
            <a:off x="6643688" y="6753203"/>
            <a:ext cx="0" cy="117575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48" name="直线箭头连接符 247"/>
          <p:cNvCxnSpPr>
            <a:cxnSpLocks/>
            <a:stCxn id="59" idx="2"/>
            <a:endCxn id="60" idx="0"/>
          </p:cNvCxnSpPr>
          <p:nvPr/>
        </p:nvCxnSpPr>
        <p:spPr>
          <a:xfrm>
            <a:off x="6643688" y="7223201"/>
            <a:ext cx="0" cy="106261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49" name="直线箭头连接符 248"/>
          <p:cNvCxnSpPr>
            <a:cxnSpLocks/>
            <a:stCxn id="60" idx="2"/>
            <a:endCxn id="61" idx="0"/>
          </p:cNvCxnSpPr>
          <p:nvPr/>
        </p:nvCxnSpPr>
        <p:spPr>
          <a:xfrm>
            <a:off x="6643688" y="7567587"/>
            <a:ext cx="0" cy="104779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50" name="直线箭头连接符 249"/>
          <p:cNvCxnSpPr>
            <a:stCxn id="49" idx="3"/>
            <a:endCxn id="50" idx="1"/>
          </p:cNvCxnSpPr>
          <p:nvPr/>
        </p:nvCxnSpPr>
        <p:spPr>
          <a:xfrm>
            <a:off x="4762500" y="6986566"/>
            <a:ext cx="238125" cy="0"/>
          </a:xfrm>
          <a:prstGeom prst="straightConnector1">
            <a:avLst/>
          </a:prstGeom>
          <a:ln w="10954">
            <a:solidFill>
              <a:srgbClr val="000000"/>
            </a:solidFill>
            <a:prstDash val="dash"/>
            <a:headEnd type="triangle" w="sm" len="sm"/>
            <a:tailEnd type="triangle" w="sm" len="sm"/>
          </a:ln>
        </p:spPr>
      </p:cxnSp>
      <p:cxnSp>
        <p:nvCxnSpPr>
          <p:cNvPr id="251" name="直线箭头连接符 250"/>
          <p:cNvCxnSpPr>
            <a:cxnSpLocks/>
            <a:stCxn id="68" idx="3"/>
            <a:endCxn id="69" idx="1"/>
          </p:cNvCxnSpPr>
          <p:nvPr/>
        </p:nvCxnSpPr>
        <p:spPr>
          <a:xfrm>
            <a:off x="3333750" y="9396391"/>
            <a:ext cx="190500" cy="0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88" name="肘形连接符 87">
            <a:extLst>
              <a:ext uri="{FF2B5EF4-FFF2-40B4-BE49-F238E27FC236}">
                <a16:creationId xmlns:a16="http://schemas.microsoft.com/office/drawing/2014/main" id="{1BFC247D-363C-665E-9AD8-18913A8AD7E1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 rot="5400000">
            <a:off x="3590925" y="-419100"/>
            <a:ext cx="152400" cy="2476500"/>
          </a:xfrm>
          <a:prstGeom prst="bentConnector3">
            <a:avLst>
              <a:gd name="adj1" fmla="val 26699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4EA5FB88-A6A4-38D5-E95C-AD66AE4FCB38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 rot="5400000">
            <a:off x="4404588" y="394563"/>
            <a:ext cx="152400" cy="849174"/>
          </a:xfrm>
          <a:prstGeom prst="bentConnector3">
            <a:avLst>
              <a:gd name="adj1" fmla="val 26699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F45FB5A3-1B9C-C80D-DCF5-C631A8C87635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 rot="16200000" flipH="1">
            <a:off x="6057900" y="-409575"/>
            <a:ext cx="152400" cy="2457450"/>
          </a:xfrm>
          <a:prstGeom prst="bentConnector3">
            <a:avLst>
              <a:gd name="adj1" fmla="val 26699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21" name="ch12-review-group">
            <a:extLst>
              <a:ext uri="{FF2B5EF4-FFF2-40B4-BE49-F238E27FC236}">
                <a16:creationId xmlns:a16="http://schemas.microsoft.com/office/drawing/2014/main" id="{048A7754-120F-F63B-2957-DF99D04FC175}"/>
              </a:ext>
            </a:extLst>
          </p:cNvPr>
          <p:cNvSpPr>
            <a:spLocks noGrp="1"/>
          </p:cNvSpPr>
          <p:nvPr/>
        </p:nvSpPr>
        <p:spPr>
          <a:xfrm>
            <a:off x="1523999" y="1719261"/>
            <a:ext cx="1238251" cy="1362692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ch3-data">
            <a:extLst>
              <a:ext uri="{FF2B5EF4-FFF2-40B4-BE49-F238E27FC236}">
                <a16:creationId xmlns:a16="http://schemas.microsoft.com/office/drawing/2014/main" id="{A4E1D8BA-9C68-4D10-503C-FE3F01EBAB0B}"/>
              </a:ext>
            </a:extLst>
          </p:cNvPr>
          <p:cNvSpPr>
            <a:spLocks noGrp="1"/>
          </p:cNvSpPr>
          <p:nvPr/>
        </p:nvSpPr>
        <p:spPr>
          <a:xfrm>
            <a:off x="1600200" y="1984580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居民出行调查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559BBC9-B35B-3451-EE83-0F1BE93A4497}"/>
              </a:ext>
            </a:extLst>
          </p:cNvPr>
          <p:cNvSpPr txBox="1"/>
          <p:nvPr/>
        </p:nvSpPr>
        <p:spPr>
          <a:xfrm>
            <a:off x="1793467" y="1710065"/>
            <a:ext cx="7924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多源数据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ch3-data">
            <a:extLst>
              <a:ext uri="{FF2B5EF4-FFF2-40B4-BE49-F238E27FC236}">
                <a16:creationId xmlns:a16="http://schemas.microsoft.com/office/drawing/2014/main" id="{7E4925AF-7FF6-2934-B512-9511B74950CA}"/>
              </a:ext>
            </a:extLst>
          </p:cNvPr>
          <p:cNvSpPr>
            <a:spLocks noGrp="1"/>
          </p:cNvSpPr>
          <p:nvPr/>
        </p:nvSpPr>
        <p:spPr>
          <a:xfrm>
            <a:off x="1600200" y="2364813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边际分布数据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26" name="ch3-data">
            <a:extLst>
              <a:ext uri="{FF2B5EF4-FFF2-40B4-BE49-F238E27FC236}">
                <a16:creationId xmlns:a16="http://schemas.microsoft.com/office/drawing/2014/main" id="{E58D1F1C-DBDE-E4D7-744B-497D0C1D57A7}"/>
              </a:ext>
            </a:extLst>
          </p:cNvPr>
          <p:cNvSpPr>
            <a:spLocks noGrp="1"/>
          </p:cNvSpPr>
          <p:nvPr/>
        </p:nvSpPr>
        <p:spPr>
          <a:xfrm>
            <a:off x="1600200" y="2732184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人口分布调查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55753BB1-96D5-6352-EEF9-51E0276D17B2}"/>
              </a:ext>
            </a:extLst>
          </p:cNvPr>
          <p:cNvSpPr txBox="1"/>
          <p:nvPr/>
        </p:nvSpPr>
        <p:spPr>
          <a:xfrm>
            <a:off x="3301795" y="1710065"/>
            <a:ext cx="19759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分层扩散</a:t>
            </a:r>
            <a:r>
              <a:rPr lang="en-US" altLang="zh-CN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Transformer</a:t>
            </a:r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 模型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ch3-diffusion-title">
            <a:extLst>
              <a:ext uri="{FF2B5EF4-FFF2-40B4-BE49-F238E27FC236}">
                <a16:creationId xmlns:a16="http://schemas.microsoft.com/office/drawing/2014/main" id="{EF60A7D6-888D-DE04-7A0A-704F4B15DECD}"/>
              </a:ext>
            </a:extLst>
          </p:cNvPr>
          <p:cNvSpPr>
            <a:spLocks noGrp="1"/>
          </p:cNvSpPr>
          <p:nvPr/>
        </p:nvSpPr>
        <p:spPr>
          <a:xfrm>
            <a:off x="3409949" y="1990725"/>
            <a:ext cx="1685925" cy="16192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100" dirty="0" err="1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分层扩散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过程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31" name="ch3-diffusion-title">
            <a:extLst>
              <a:ext uri="{FF2B5EF4-FFF2-40B4-BE49-F238E27FC236}">
                <a16:creationId xmlns:a16="http://schemas.microsoft.com/office/drawing/2014/main" id="{B50DA622-5D2B-6016-0051-4F5BC0984434}"/>
              </a:ext>
            </a:extLst>
          </p:cNvPr>
          <p:cNvSpPr>
            <a:spLocks noGrp="1"/>
          </p:cNvSpPr>
          <p:nvPr/>
        </p:nvSpPr>
        <p:spPr>
          <a:xfrm>
            <a:off x="3076575" y="2318448"/>
            <a:ext cx="965181" cy="3333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家庭级扩散</a:t>
            </a: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Transformer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34" name="ch3-diffusion-title">
            <a:extLst>
              <a:ext uri="{FF2B5EF4-FFF2-40B4-BE49-F238E27FC236}">
                <a16:creationId xmlns:a16="http://schemas.microsoft.com/office/drawing/2014/main" id="{46A7DE14-935C-0057-E263-C6B57154A77C}"/>
              </a:ext>
            </a:extLst>
          </p:cNvPr>
          <p:cNvSpPr>
            <a:spLocks noGrp="1"/>
          </p:cNvSpPr>
          <p:nvPr/>
        </p:nvSpPr>
        <p:spPr>
          <a:xfrm>
            <a:off x="4360871" y="2318448"/>
            <a:ext cx="965181" cy="3333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个人级扩散</a:t>
            </a: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Transformer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35" name="ch3-diffusion-title">
            <a:extLst>
              <a:ext uri="{FF2B5EF4-FFF2-40B4-BE49-F238E27FC236}">
                <a16:creationId xmlns:a16="http://schemas.microsoft.com/office/drawing/2014/main" id="{89B65F64-3996-A128-4072-A959CA08D342}"/>
              </a:ext>
            </a:extLst>
          </p:cNvPr>
          <p:cNvSpPr>
            <a:spLocks noGrp="1"/>
          </p:cNvSpPr>
          <p:nvPr/>
        </p:nvSpPr>
        <p:spPr>
          <a:xfrm>
            <a:off x="3365638" y="2796089"/>
            <a:ext cx="1656521" cy="181089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图处理模块预测家庭结构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38" name="ch3-diffusion-group">
            <a:extLst>
              <a:ext uri="{FF2B5EF4-FFF2-40B4-BE49-F238E27FC236}">
                <a16:creationId xmlns:a16="http://schemas.microsoft.com/office/drawing/2014/main" id="{D838001D-5419-C50B-38E0-1F8DA96AD827}"/>
              </a:ext>
            </a:extLst>
          </p:cNvPr>
          <p:cNvSpPr>
            <a:spLocks noGrp="1"/>
          </p:cNvSpPr>
          <p:nvPr/>
        </p:nvSpPr>
        <p:spPr>
          <a:xfrm>
            <a:off x="5546624" y="1724025"/>
            <a:ext cx="1776740" cy="1348403"/>
          </a:xfrm>
          <a:prstGeom prst="roundRect">
            <a:avLst>
              <a:gd name="adj" fmla="val 4167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306764C-BC03-A666-E287-8CD53196AE8E}"/>
              </a:ext>
            </a:extLst>
          </p:cNvPr>
          <p:cNvSpPr txBox="1"/>
          <p:nvPr/>
        </p:nvSpPr>
        <p:spPr>
          <a:xfrm>
            <a:off x="5704025" y="1710066"/>
            <a:ext cx="1488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大规模数据生成过程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ch3-data">
            <a:extLst>
              <a:ext uri="{FF2B5EF4-FFF2-40B4-BE49-F238E27FC236}">
                <a16:creationId xmlns:a16="http://schemas.microsoft.com/office/drawing/2014/main" id="{C9D49906-74E4-B13C-B014-90E40E6E8AC1}"/>
              </a:ext>
            </a:extLst>
          </p:cNvPr>
          <p:cNvSpPr>
            <a:spLocks noGrp="1"/>
          </p:cNvSpPr>
          <p:nvPr/>
        </p:nvSpPr>
        <p:spPr>
          <a:xfrm>
            <a:off x="5671105" y="1993338"/>
            <a:ext cx="1466850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反向采样过程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45" name="ch3-data">
            <a:extLst>
              <a:ext uri="{FF2B5EF4-FFF2-40B4-BE49-F238E27FC236}">
                <a16:creationId xmlns:a16="http://schemas.microsoft.com/office/drawing/2014/main" id="{CA58FFE8-8755-8C78-CAB9-DFC664FB5E02}"/>
              </a:ext>
            </a:extLst>
          </p:cNvPr>
          <p:cNvSpPr>
            <a:spLocks noGrp="1"/>
          </p:cNvSpPr>
          <p:nvPr/>
        </p:nvSpPr>
        <p:spPr>
          <a:xfrm>
            <a:off x="5672212" y="2369662"/>
            <a:ext cx="1466850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边际分布对齐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48" name="ch3-data">
            <a:extLst>
              <a:ext uri="{FF2B5EF4-FFF2-40B4-BE49-F238E27FC236}">
                <a16:creationId xmlns:a16="http://schemas.microsoft.com/office/drawing/2014/main" id="{A6DA71E5-AB88-D0FD-7C3F-318992C0A73F}"/>
              </a:ext>
            </a:extLst>
          </p:cNvPr>
          <p:cNvSpPr>
            <a:spLocks noGrp="1"/>
          </p:cNvSpPr>
          <p:nvPr/>
        </p:nvSpPr>
        <p:spPr>
          <a:xfrm>
            <a:off x="5661580" y="2729528"/>
            <a:ext cx="1466850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样本零与结构零控制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50" name="ch3-data">
            <a:extLst>
              <a:ext uri="{FF2B5EF4-FFF2-40B4-BE49-F238E27FC236}">
                <a16:creationId xmlns:a16="http://schemas.microsoft.com/office/drawing/2014/main" id="{3DEC2C96-FC3A-0056-330D-DAB290E4928D}"/>
              </a:ext>
            </a:extLst>
          </p:cNvPr>
          <p:cNvSpPr>
            <a:spLocks noGrp="1"/>
          </p:cNvSpPr>
          <p:nvPr/>
        </p:nvSpPr>
        <p:spPr>
          <a:xfrm>
            <a:off x="7497486" y="2548553"/>
            <a:ext cx="783948" cy="464091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超参数调优策略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151" name="ch3-data">
            <a:extLst>
              <a:ext uri="{FF2B5EF4-FFF2-40B4-BE49-F238E27FC236}">
                <a16:creationId xmlns:a16="http://schemas.microsoft.com/office/drawing/2014/main" id="{7BE7F8EB-FC3C-6C63-5773-FA1D53EDD43A}"/>
              </a:ext>
            </a:extLst>
          </p:cNvPr>
          <p:cNvSpPr>
            <a:spLocks noGrp="1"/>
          </p:cNvSpPr>
          <p:nvPr/>
        </p:nvSpPr>
        <p:spPr>
          <a:xfrm>
            <a:off x="7501271" y="1841014"/>
            <a:ext cx="777820" cy="49530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大规模</a:t>
            </a:r>
            <a:r>
              <a:rPr lang="zh-CN" altLang="en-US"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家庭级虚拟人口</a:t>
            </a:r>
          </a:p>
        </p:txBody>
      </p:sp>
      <p:cxnSp>
        <p:nvCxnSpPr>
          <p:cNvPr id="152" name="直线箭头连接符 151">
            <a:extLst>
              <a:ext uri="{FF2B5EF4-FFF2-40B4-BE49-F238E27FC236}">
                <a16:creationId xmlns:a16="http://schemas.microsoft.com/office/drawing/2014/main" id="{781046CD-C197-8EB6-9B0B-3A0E042F5F46}"/>
              </a:ext>
            </a:extLst>
          </p:cNvPr>
          <p:cNvCxnSpPr>
            <a:cxnSpLocks/>
            <a:stCxn id="122" idx="3"/>
            <a:endCxn id="25" idx="1"/>
          </p:cNvCxnSpPr>
          <p:nvPr/>
        </p:nvCxnSpPr>
        <p:spPr>
          <a:xfrm>
            <a:off x="2665156" y="2105025"/>
            <a:ext cx="363793" cy="293201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3DED74BB-B01A-F628-9BB0-70D4453C0C02}"/>
              </a:ext>
            </a:extLst>
          </p:cNvPr>
          <p:cNvCxnSpPr>
            <a:cxnSpLocks/>
            <a:stCxn id="130" idx="2"/>
            <a:endCxn id="131" idx="0"/>
          </p:cNvCxnSpPr>
          <p:nvPr/>
        </p:nvCxnSpPr>
        <p:spPr>
          <a:xfrm flipH="1">
            <a:off x="3559166" y="2152650"/>
            <a:ext cx="693746" cy="165798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89BBA009-6052-53DB-E53E-8DDD0DAA45C8}"/>
              </a:ext>
            </a:extLst>
          </p:cNvPr>
          <p:cNvCxnSpPr>
            <a:cxnSpLocks/>
            <a:stCxn id="130" idx="2"/>
            <a:endCxn id="134" idx="0"/>
          </p:cNvCxnSpPr>
          <p:nvPr/>
        </p:nvCxnSpPr>
        <p:spPr>
          <a:xfrm>
            <a:off x="4252912" y="2152650"/>
            <a:ext cx="590550" cy="165798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78CD44DF-26A0-6F66-DFFA-5228F03079CC}"/>
              </a:ext>
            </a:extLst>
          </p:cNvPr>
          <p:cNvCxnSpPr>
            <a:cxnSpLocks/>
            <a:stCxn id="131" idx="3"/>
            <a:endCxn id="134" idx="1"/>
          </p:cNvCxnSpPr>
          <p:nvPr/>
        </p:nvCxnSpPr>
        <p:spPr>
          <a:xfrm>
            <a:off x="4041756" y="2485136"/>
            <a:ext cx="319115" cy="0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67" name="直线箭头连接符 166">
            <a:extLst>
              <a:ext uri="{FF2B5EF4-FFF2-40B4-BE49-F238E27FC236}">
                <a16:creationId xmlns:a16="http://schemas.microsoft.com/office/drawing/2014/main" id="{0762846A-6771-6615-1AD7-2F82BCDDD280}"/>
              </a:ext>
            </a:extLst>
          </p:cNvPr>
          <p:cNvCxnSpPr>
            <a:cxnSpLocks/>
            <a:stCxn id="135" idx="0"/>
          </p:cNvCxnSpPr>
          <p:nvPr/>
        </p:nvCxnSpPr>
        <p:spPr>
          <a:xfrm flipV="1">
            <a:off x="4193899" y="2500928"/>
            <a:ext cx="0" cy="295161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98" name="ch12-review-group">
            <a:extLst>
              <a:ext uri="{FF2B5EF4-FFF2-40B4-BE49-F238E27FC236}">
                <a16:creationId xmlns:a16="http://schemas.microsoft.com/office/drawing/2014/main" id="{11F79AC8-1F3D-220A-4AD7-F62EFBA6CAB5}"/>
              </a:ext>
            </a:extLst>
          </p:cNvPr>
          <p:cNvSpPr>
            <a:spLocks noGrp="1"/>
          </p:cNvSpPr>
          <p:nvPr/>
        </p:nvSpPr>
        <p:spPr>
          <a:xfrm>
            <a:off x="1559750" y="2329477"/>
            <a:ext cx="1130288" cy="695325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9" name="直线箭头连接符 151">
            <a:extLst>
              <a:ext uri="{FF2B5EF4-FFF2-40B4-BE49-F238E27FC236}">
                <a16:creationId xmlns:a16="http://schemas.microsoft.com/office/drawing/2014/main" id="{72D46E6B-B24E-6FD0-345F-179AD4241D38}"/>
              </a:ext>
            </a:extLst>
          </p:cNvPr>
          <p:cNvCxnSpPr>
            <a:cxnSpLocks/>
            <a:stCxn id="198" idx="2"/>
            <a:endCxn id="138" idx="1"/>
          </p:cNvCxnSpPr>
          <p:nvPr/>
        </p:nvCxnSpPr>
        <p:spPr>
          <a:xfrm rot="5400000" flipH="1" flipV="1">
            <a:off x="3522471" y="1000650"/>
            <a:ext cx="626575" cy="3421730"/>
          </a:xfrm>
          <a:prstGeom prst="bentConnector4">
            <a:avLst>
              <a:gd name="adj1" fmla="val -25454"/>
              <a:gd name="adj2" fmla="val 97566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04" name="直线箭头连接符 203">
            <a:extLst>
              <a:ext uri="{FF2B5EF4-FFF2-40B4-BE49-F238E27FC236}">
                <a16:creationId xmlns:a16="http://schemas.microsoft.com/office/drawing/2014/main" id="{BFF605C1-72D2-B9FB-46D7-05F01650FB44}"/>
              </a:ext>
            </a:extLst>
          </p:cNvPr>
          <p:cNvCxnSpPr>
            <a:cxnSpLocks/>
            <a:stCxn id="25" idx="3"/>
            <a:endCxn id="144" idx="1"/>
          </p:cNvCxnSpPr>
          <p:nvPr/>
        </p:nvCxnSpPr>
        <p:spPr>
          <a:xfrm flipV="1">
            <a:off x="5388076" y="2113783"/>
            <a:ext cx="283029" cy="284443"/>
          </a:xfrm>
          <a:prstGeom prst="bentConnector3">
            <a:avLst>
              <a:gd name="adj1" fmla="val 2746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648BBC04-6DC3-5975-536E-3B799685ECA2}"/>
              </a:ext>
            </a:extLst>
          </p:cNvPr>
          <p:cNvCxnSpPr>
            <a:cxnSpLocks/>
            <a:stCxn id="144" idx="2"/>
            <a:endCxn id="145" idx="0"/>
          </p:cNvCxnSpPr>
          <p:nvPr/>
        </p:nvCxnSpPr>
        <p:spPr>
          <a:xfrm>
            <a:off x="6404530" y="2234228"/>
            <a:ext cx="1107" cy="135434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14" name="直线箭头连接符 213">
            <a:extLst>
              <a:ext uri="{FF2B5EF4-FFF2-40B4-BE49-F238E27FC236}">
                <a16:creationId xmlns:a16="http://schemas.microsoft.com/office/drawing/2014/main" id="{69E70132-523A-DD7B-4976-85EF7E5C3102}"/>
              </a:ext>
            </a:extLst>
          </p:cNvPr>
          <p:cNvCxnSpPr>
            <a:cxnSpLocks/>
          </p:cNvCxnSpPr>
          <p:nvPr/>
        </p:nvCxnSpPr>
        <p:spPr>
          <a:xfrm>
            <a:off x="6410353" y="2605703"/>
            <a:ext cx="1107" cy="135434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19" name="直线箭头连接符 151">
            <a:extLst>
              <a:ext uri="{FF2B5EF4-FFF2-40B4-BE49-F238E27FC236}">
                <a16:creationId xmlns:a16="http://schemas.microsoft.com/office/drawing/2014/main" id="{6A8FF373-383C-AB60-2493-1F01C793944E}"/>
              </a:ext>
            </a:extLst>
          </p:cNvPr>
          <p:cNvCxnSpPr>
            <a:cxnSpLocks/>
            <a:stCxn id="25" idx="2"/>
            <a:endCxn id="150" idx="2"/>
          </p:cNvCxnSpPr>
          <p:nvPr/>
        </p:nvCxnSpPr>
        <p:spPr>
          <a:xfrm rot="5400000" flipH="1" flipV="1">
            <a:off x="6019094" y="1202062"/>
            <a:ext cx="59783" cy="3680947"/>
          </a:xfrm>
          <a:prstGeom prst="bentConnector3">
            <a:avLst>
              <a:gd name="adj1" fmla="val -186744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68" name="直线箭头连接符 151">
            <a:extLst>
              <a:ext uri="{FF2B5EF4-FFF2-40B4-BE49-F238E27FC236}">
                <a16:creationId xmlns:a16="http://schemas.microsoft.com/office/drawing/2014/main" id="{F2A169AD-7F23-49EF-56FB-640134A3E382}"/>
              </a:ext>
            </a:extLst>
          </p:cNvPr>
          <p:cNvCxnSpPr>
            <a:cxnSpLocks/>
            <a:stCxn id="138" idx="3"/>
            <a:endCxn id="151" idx="1"/>
          </p:cNvCxnSpPr>
          <p:nvPr/>
        </p:nvCxnSpPr>
        <p:spPr>
          <a:xfrm flipV="1">
            <a:off x="7323364" y="2088664"/>
            <a:ext cx="177907" cy="309563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71" name="直线箭头连接符 270">
            <a:extLst>
              <a:ext uri="{FF2B5EF4-FFF2-40B4-BE49-F238E27FC236}">
                <a16:creationId xmlns:a16="http://schemas.microsoft.com/office/drawing/2014/main" id="{1085365C-646F-0E3A-BE48-AA90F6D76743}"/>
              </a:ext>
            </a:extLst>
          </p:cNvPr>
          <p:cNvCxnSpPr>
            <a:cxnSpLocks/>
            <a:stCxn id="150" idx="0"/>
            <a:endCxn id="151" idx="2"/>
          </p:cNvCxnSpPr>
          <p:nvPr/>
        </p:nvCxnSpPr>
        <p:spPr>
          <a:xfrm flipV="1">
            <a:off x="7889460" y="2336314"/>
            <a:ext cx="721" cy="212239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80" name="ch12-review-group">
            <a:extLst>
              <a:ext uri="{FF2B5EF4-FFF2-40B4-BE49-F238E27FC236}">
                <a16:creationId xmlns:a16="http://schemas.microsoft.com/office/drawing/2014/main" id="{3A0D1C37-CF82-0032-73C4-F5F5A41940E1}"/>
              </a:ext>
            </a:extLst>
          </p:cNvPr>
          <p:cNvSpPr>
            <a:spLocks noGrp="1"/>
          </p:cNvSpPr>
          <p:nvPr/>
        </p:nvSpPr>
        <p:spPr>
          <a:xfrm>
            <a:off x="1524000" y="3710603"/>
            <a:ext cx="1238251" cy="1442400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ch3-data">
            <a:extLst>
              <a:ext uri="{FF2B5EF4-FFF2-40B4-BE49-F238E27FC236}">
                <a16:creationId xmlns:a16="http://schemas.microsoft.com/office/drawing/2014/main" id="{DB6C0DEC-9356-7CD3-C7E5-CE0EF5558BE5}"/>
              </a:ext>
            </a:extLst>
          </p:cNvPr>
          <p:cNvSpPr>
            <a:spLocks noGrp="1"/>
          </p:cNvSpPr>
          <p:nvPr/>
        </p:nvSpPr>
        <p:spPr>
          <a:xfrm>
            <a:off x="1600201" y="3975922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居民出行调查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EF605DEC-A893-035A-9CC5-99F638E2BBC2}"/>
              </a:ext>
            </a:extLst>
          </p:cNvPr>
          <p:cNvSpPr txBox="1"/>
          <p:nvPr/>
        </p:nvSpPr>
        <p:spPr>
          <a:xfrm>
            <a:off x="1793468" y="3701407"/>
            <a:ext cx="7924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多源数据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ch3-data">
            <a:extLst>
              <a:ext uri="{FF2B5EF4-FFF2-40B4-BE49-F238E27FC236}">
                <a16:creationId xmlns:a16="http://schemas.microsoft.com/office/drawing/2014/main" id="{715BF6C6-CD57-258C-5AE7-AF24669278A4}"/>
              </a:ext>
            </a:extLst>
          </p:cNvPr>
          <p:cNvSpPr>
            <a:spLocks noGrp="1"/>
          </p:cNvSpPr>
          <p:nvPr/>
        </p:nvSpPr>
        <p:spPr>
          <a:xfrm>
            <a:off x="1600201" y="4790902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土地利用数据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87" name="ch3-data">
            <a:extLst>
              <a:ext uri="{FF2B5EF4-FFF2-40B4-BE49-F238E27FC236}">
                <a16:creationId xmlns:a16="http://schemas.microsoft.com/office/drawing/2014/main" id="{1EB6F215-7EF2-A51F-3BC8-95B7027BA9A6}"/>
              </a:ext>
            </a:extLst>
          </p:cNvPr>
          <p:cNvSpPr>
            <a:spLocks noGrp="1"/>
          </p:cNvSpPr>
          <p:nvPr/>
        </p:nvSpPr>
        <p:spPr>
          <a:xfrm>
            <a:off x="1600200" y="4407935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交通小区数据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88" name="ch12-review-group">
            <a:extLst>
              <a:ext uri="{FF2B5EF4-FFF2-40B4-BE49-F238E27FC236}">
                <a16:creationId xmlns:a16="http://schemas.microsoft.com/office/drawing/2014/main" id="{B40F6DDF-5F31-DDAE-217F-0F0AEA2D7590}"/>
              </a:ext>
            </a:extLst>
          </p:cNvPr>
          <p:cNvSpPr>
            <a:spLocks noGrp="1"/>
          </p:cNvSpPr>
          <p:nvPr/>
        </p:nvSpPr>
        <p:spPr>
          <a:xfrm>
            <a:off x="2952749" y="3720127"/>
            <a:ext cx="1771651" cy="1432875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5F05147C-C93C-B6D6-2746-EDB484F0FF39}"/>
              </a:ext>
            </a:extLst>
          </p:cNvPr>
          <p:cNvSpPr txBox="1"/>
          <p:nvPr/>
        </p:nvSpPr>
        <p:spPr>
          <a:xfrm>
            <a:off x="3028948" y="3710932"/>
            <a:ext cx="16573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融合家庭</a:t>
            </a:r>
            <a:r>
              <a:rPr lang="en-US" altLang="zh-CN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-</a:t>
            </a:r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成员特征的多任务编码器</a:t>
            </a:r>
          </a:p>
        </p:txBody>
      </p:sp>
      <p:sp>
        <p:nvSpPr>
          <p:cNvPr id="291" name="ch3-data">
            <a:extLst>
              <a:ext uri="{FF2B5EF4-FFF2-40B4-BE49-F238E27FC236}">
                <a16:creationId xmlns:a16="http://schemas.microsoft.com/office/drawing/2014/main" id="{01EBE46A-1AC4-125F-C277-E81800E6A68D}"/>
              </a:ext>
            </a:extLst>
          </p:cNvPr>
          <p:cNvSpPr>
            <a:spLocks noGrp="1"/>
          </p:cNvSpPr>
          <p:nvPr/>
        </p:nvSpPr>
        <p:spPr>
          <a:xfrm>
            <a:off x="3028948" y="4151408"/>
            <a:ext cx="742951" cy="50482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家庭</a:t>
            </a: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-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成员特征融合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92" name="ch3-data">
            <a:extLst>
              <a:ext uri="{FF2B5EF4-FFF2-40B4-BE49-F238E27FC236}">
                <a16:creationId xmlns:a16="http://schemas.microsoft.com/office/drawing/2014/main" id="{C066D7E4-D622-1F26-904E-4F40C1F9A558}"/>
              </a:ext>
            </a:extLst>
          </p:cNvPr>
          <p:cNvSpPr>
            <a:spLocks noGrp="1"/>
          </p:cNvSpPr>
          <p:nvPr/>
        </p:nvSpPr>
        <p:spPr>
          <a:xfrm>
            <a:off x="3018018" y="4768984"/>
            <a:ext cx="1668281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活动模式先验分布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94" name="ch3-data">
            <a:extLst>
              <a:ext uri="{FF2B5EF4-FFF2-40B4-BE49-F238E27FC236}">
                <a16:creationId xmlns:a16="http://schemas.microsoft.com/office/drawing/2014/main" id="{EFB1F943-D16B-200A-520B-93AC7C77BF99}"/>
              </a:ext>
            </a:extLst>
          </p:cNvPr>
          <p:cNvSpPr>
            <a:spLocks noGrp="1"/>
          </p:cNvSpPr>
          <p:nvPr/>
        </p:nvSpPr>
        <p:spPr>
          <a:xfrm>
            <a:off x="3874943" y="4151408"/>
            <a:ext cx="811357" cy="50482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渐进分层提取编码器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295" name="ch12-review-group">
            <a:extLst>
              <a:ext uri="{FF2B5EF4-FFF2-40B4-BE49-F238E27FC236}">
                <a16:creationId xmlns:a16="http://schemas.microsoft.com/office/drawing/2014/main" id="{A5632EB2-ADDA-A143-4E32-808DF1B507E8}"/>
              </a:ext>
            </a:extLst>
          </p:cNvPr>
          <p:cNvSpPr>
            <a:spLocks noGrp="1"/>
          </p:cNvSpPr>
          <p:nvPr/>
        </p:nvSpPr>
        <p:spPr>
          <a:xfrm>
            <a:off x="4905374" y="3720128"/>
            <a:ext cx="1771651" cy="1461450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DD1ABE78-CBA3-C97E-A975-6FDD0D6C1851}"/>
              </a:ext>
            </a:extLst>
          </p:cNvPr>
          <p:cNvSpPr txBox="1"/>
          <p:nvPr/>
        </p:nvSpPr>
        <p:spPr>
          <a:xfrm>
            <a:off x="4981573" y="3710932"/>
            <a:ext cx="16573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考虑家庭联合活动的多任务学习解码器</a:t>
            </a:r>
          </a:p>
        </p:txBody>
      </p:sp>
      <p:sp>
        <p:nvSpPr>
          <p:cNvPr id="297" name="ch3-data">
            <a:extLst>
              <a:ext uri="{FF2B5EF4-FFF2-40B4-BE49-F238E27FC236}">
                <a16:creationId xmlns:a16="http://schemas.microsoft.com/office/drawing/2014/main" id="{A7744C44-DD71-F563-CF18-6C6A24D46282}"/>
              </a:ext>
            </a:extLst>
          </p:cNvPr>
          <p:cNvSpPr>
            <a:spLocks noGrp="1"/>
          </p:cNvSpPr>
          <p:nvPr/>
        </p:nvSpPr>
        <p:spPr>
          <a:xfrm>
            <a:off x="4981573" y="4151409"/>
            <a:ext cx="1628777" cy="219076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家庭成员特征协调层</a:t>
            </a:r>
          </a:p>
        </p:txBody>
      </p:sp>
      <p:sp>
        <p:nvSpPr>
          <p:cNvPr id="298" name="ch3-data">
            <a:extLst>
              <a:ext uri="{FF2B5EF4-FFF2-40B4-BE49-F238E27FC236}">
                <a16:creationId xmlns:a16="http://schemas.microsoft.com/office/drawing/2014/main" id="{08D0DB4B-D533-FB8A-0070-52D678FB7D48}"/>
              </a:ext>
            </a:extLst>
          </p:cNvPr>
          <p:cNvSpPr>
            <a:spLocks noGrp="1"/>
          </p:cNvSpPr>
          <p:nvPr/>
        </p:nvSpPr>
        <p:spPr>
          <a:xfrm>
            <a:off x="4954741" y="4785917"/>
            <a:ext cx="1668281" cy="345919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考虑空间异质性的目的地选择层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300" name="ch3-data">
            <a:extLst>
              <a:ext uri="{FF2B5EF4-FFF2-40B4-BE49-F238E27FC236}">
                <a16:creationId xmlns:a16="http://schemas.microsoft.com/office/drawing/2014/main" id="{A9D8D853-8115-DCD2-2081-0F1AE72C71D3}"/>
              </a:ext>
            </a:extLst>
          </p:cNvPr>
          <p:cNvSpPr>
            <a:spLocks noGrp="1"/>
          </p:cNvSpPr>
          <p:nvPr/>
        </p:nvSpPr>
        <p:spPr>
          <a:xfrm>
            <a:off x="4976811" y="4482945"/>
            <a:ext cx="1628777" cy="219076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自回归活动计划生成</a:t>
            </a:r>
          </a:p>
        </p:txBody>
      </p:sp>
      <p:sp>
        <p:nvSpPr>
          <p:cNvPr id="301" name="ch12-review-group">
            <a:extLst>
              <a:ext uri="{FF2B5EF4-FFF2-40B4-BE49-F238E27FC236}">
                <a16:creationId xmlns:a16="http://schemas.microsoft.com/office/drawing/2014/main" id="{AB30432C-81D0-7755-D1FF-C2494BC02750}"/>
              </a:ext>
            </a:extLst>
          </p:cNvPr>
          <p:cNvSpPr>
            <a:spLocks noGrp="1"/>
          </p:cNvSpPr>
          <p:nvPr/>
        </p:nvSpPr>
        <p:spPr>
          <a:xfrm>
            <a:off x="1571525" y="4376816"/>
            <a:ext cx="1130288" cy="695325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ch3-data">
            <a:extLst>
              <a:ext uri="{FF2B5EF4-FFF2-40B4-BE49-F238E27FC236}">
                <a16:creationId xmlns:a16="http://schemas.microsoft.com/office/drawing/2014/main" id="{187EB276-302B-DC0B-D825-24285F436885}"/>
              </a:ext>
            </a:extLst>
          </p:cNvPr>
          <p:cNvSpPr>
            <a:spLocks noGrp="1"/>
          </p:cNvSpPr>
          <p:nvPr/>
        </p:nvSpPr>
        <p:spPr>
          <a:xfrm>
            <a:off x="6858000" y="3716302"/>
            <a:ext cx="439701" cy="1476375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基于纳什议价的家庭活动计划协调层</a:t>
            </a:r>
          </a:p>
        </p:txBody>
      </p:sp>
      <p:sp>
        <p:nvSpPr>
          <p:cNvPr id="309" name="ch3-data">
            <a:extLst>
              <a:ext uri="{FF2B5EF4-FFF2-40B4-BE49-F238E27FC236}">
                <a16:creationId xmlns:a16="http://schemas.microsoft.com/office/drawing/2014/main" id="{D2D5589C-2395-6F95-406A-96AC94B83B78}"/>
              </a:ext>
            </a:extLst>
          </p:cNvPr>
          <p:cNvSpPr>
            <a:spLocks noGrp="1"/>
          </p:cNvSpPr>
          <p:nvPr/>
        </p:nvSpPr>
        <p:spPr>
          <a:xfrm>
            <a:off x="7472626" y="4591101"/>
            <a:ext cx="783948" cy="464091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小规模算例实验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310" name="ch3-data">
            <a:extLst>
              <a:ext uri="{FF2B5EF4-FFF2-40B4-BE49-F238E27FC236}">
                <a16:creationId xmlns:a16="http://schemas.microsoft.com/office/drawing/2014/main" id="{33209C08-CA54-30B1-E441-284E875CAB97}"/>
              </a:ext>
            </a:extLst>
          </p:cNvPr>
          <p:cNvSpPr>
            <a:spLocks noGrp="1"/>
          </p:cNvSpPr>
          <p:nvPr/>
        </p:nvSpPr>
        <p:spPr>
          <a:xfrm>
            <a:off x="7476411" y="3883562"/>
            <a:ext cx="777820" cy="49530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大规模</a:t>
            </a:r>
            <a:r>
              <a:rPr lang="zh-CN" altLang="en-US" sz="1100" dirty="0"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家庭活动计划</a:t>
            </a:r>
          </a:p>
        </p:txBody>
      </p:sp>
      <p:cxnSp>
        <p:nvCxnSpPr>
          <p:cNvPr id="311" name="直线箭头连接符 151">
            <a:extLst>
              <a:ext uri="{FF2B5EF4-FFF2-40B4-BE49-F238E27FC236}">
                <a16:creationId xmlns:a16="http://schemas.microsoft.com/office/drawing/2014/main" id="{44456092-CE3D-80DB-0689-AB182BA29696}"/>
              </a:ext>
            </a:extLst>
          </p:cNvPr>
          <p:cNvCxnSpPr>
            <a:cxnSpLocks/>
            <a:stCxn id="301" idx="2"/>
            <a:endCxn id="298" idx="2"/>
          </p:cNvCxnSpPr>
          <p:nvPr/>
        </p:nvCxnSpPr>
        <p:spPr>
          <a:xfrm rot="16200000" flipH="1">
            <a:off x="3932928" y="3275881"/>
            <a:ext cx="59695" cy="3652213"/>
          </a:xfrm>
          <a:prstGeom prst="bentConnector3">
            <a:avLst>
              <a:gd name="adj1" fmla="val 283149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15" name="直线箭头连接符 151">
            <a:extLst>
              <a:ext uri="{FF2B5EF4-FFF2-40B4-BE49-F238E27FC236}">
                <a16:creationId xmlns:a16="http://schemas.microsoft.com/office/drawing/2014/main" id="{9EB0D74A-D92E-3570-AC1A-803B480DF4E5}"/>
              </a:ext>
            </a:extLst>
          </p:cNvPr>
          <p:cNvCxnSpPr>
            <a:cxnSpLocks/>
            <a:stCxn id="281" idx="3"/>
            <a:endCxn id="288" idx="1"/>
          </p:cNvCxnSpPr>
          <p:nvPr/>
        </p:nvCxnSpPr>
        <p:spPr>
          <a:xfrm>
            <a:off x="2665157" y="4096367"/>
            <a:ext cx="287592" cy="340198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19" name="直线箭头连接符 151">
            <a:extLst>
              <a:ext uri="{FF2B5EF4-FFF2-40B4-BE49-F238E27FC236}">
                <a16:creationId xmlns:a16="http://schemas.microsoft.com/office/drawing/2014/main" id="{477B2875-0A7E-7D51-6CCA-51A6B4E9BB0D}"/>
              </a:ext>
            </a:extLst>
          </p:cNvPr>
          <p:cNvCxnSpPr>
            <a:cxnSpLocks/>
            <a:stCxn id="292" idx="3"/>
            <a:endCxn id="297" idx="1"/>
          </p:cNvCxnSpPr>
          <p:nvPr/>
        </p:nvCxnSpPr>
        <p:spPr>
          <a:xfrm flipV="1">
            <a:off x="4686299" y="4260947"/>
            <a:ext cx="295274" cy="628482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22" name="直线箭头连接符 151">
            <a:extLst>
              <a:ext uri="{FF2B5EF4-FFF2-40B4-BE49-F238E27FC236}">
                <a16:creationId xmlns:a16="http://schemas.microsoft.com/office/drawing/2014/main" id="{4D1C11D8-D79F-C10B-5911-341798E8A5DB}"/>
              </a:ext>
            </a:extLst>
          </p:cNvPr>
          <p:cNvCxnSpPr>
            <a:cxnSpLocks/>
            <a:stCxn id="294" idx="3"/>
            <a:endCxn id="297" idx="1"/>
          </p:cNvCxnSpPr>
          <p:nvPr/>
        </p:nvCxnSpPr>
        <p:spPr>
          <a:xfrm flipV="1">
            <a:off x="4686300" y="4260947"/>
            <a:ext cx="295273" cy="142874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25" name="直线箭头连接符 324">
            <a:extLst>
              <a:ext uri="{FF2B5EF4-FFF2-40B4-BE49-F238E27FC236}">
                <a16:creationId xmlns:a16="http://schemas.microsoft.com/office/drawing/2014/main" id="{FC5385A9-25B4-86CF-4E8A-2E643E5E7F49}"/>
              </a:ext>
            </a:extLst>
          </p:cNvPr>
          <p:cNvCxnSpPr>
            <a:cxnSpLocks/>
            <a:stCxn id="291" idx="3"/>
            <a:endCxn id="294" idx="1"/>
          </p:cNvCxnSpPr>
          <p:nvPr/>
        </p:nvCxnSpPr>
        <p:spPr>
          <a:xfrm>
            <a:off x="3771899" y="4403821"/>
            <a:ext cx="103044" cy="0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28" name="直线箭头连接符 327">
            <a:extLst>
              <a:ext uri="{FF2B5EF4-FFF2-40B4-BE49-F238E27FC236}">
                <a16:creationId xmlns:a16="http://schemas.microsoft.com/office/drawing/2014/main" id="{60DD13CF-D446-1C94-C73E-D82625303B7B}"/>
              </a:ext>
            </a:extLst>
          </p:cNvPr>
          <p:cNvCxnSpPr>
            <a:cxnSpLocks/>
            <a:stCxn id="297" idx="2"/>
            <a:endCxn id="300" idx="0"/>
          </p:cNvCxnSpPr>
          <p:nvPr/>
        </p:nvCxnSpPr>
        <p:spPr>
          <a:xfrm flipH="1">
            <a:off x="5791200" y="4370485"/>
            <a:ext cx="4762" cy="112460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31" name="直线箭头连接符 330">
            <a:extLst>
              <a:ext uri="{FF2B5EF4-FFF2-40B4-BE49-F238E27FC236}">
                <a16:creationId xmlns:a16="http://schemas.microsoft.com/office/drawing/2014/main" id="{56DADB7C-D30E-C6F7-5070-39314CECD68B}"/>
              </a:ext>
            </a:extLst>
          </p:cNvPr>
          <p:cNvCxnSpPr>
            <a:cxnSpLocks/>
            <a:stCxn id="298" idx="0"/>
            <a:endCxn id="300" idx="2"/>
          </p:cNvCxnSpPr>
          <p:nvPr/>
        </p:nvCxnSpPr>
        <p:spPr>
          <a:xfrm flipV="1">
            <a:off x="5788882" y="4702021"/>
            <a:ext cx="2318" cy="83896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35" name="直线箭头连接符 334">
            <a:extLst>
              <a:ext uri="{FF2B5EF4-FFF2-40B4-BE49-F238E27FC236}">
                <a16:creationId xmlns:a16="http://schemas.microsoft.com/office/drawing/2014/main" id="{E8B49D44-1656-CB83-B125-E9AB22BD28E6}"/>
              </a:ext>
            </a:extLst>
          </p:cNvPr>
          <p:cNvCxnSpPr>
            <a:cxnSpLocks/>
            <a:stCxn id="295" idx="3"/>
            <a:endCxn id="302" idx="1"/>
          </p:cNvCxnSpPr>
          <p:nvPr/>
        </p:nvCxnSpPr>
        <p:spPr>
          <a:xfrm>
            <a:off x="6677025" y="4450853"/>
            <a:ext cx="180975" cy="3637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40" name="直线箭头连接符 151">
            <a:extLst>
              <a:ext uri="{FF2B5EF4-FFF2-40B4-BE49-F238E27FC236}">
                <a16:creationId xmlns:a16="http://schemas.microsoft.com/office/drawing/2014/main" id="{1A71F63B-06EF-025E-A071-D6D7AAEF458D}"/>
              </a:ext>
            </a:extLst>
          </p:cNvPr>
          <p:cNvCxnSpPr>
            <a:cxnSpLocks/>
            <a:stCxn id="302" idx="3"/>
            <a:endCxn id="309" idx="1"/>
          </p:cNvCxnSpPr>
          <p:nvPr/>
        </p:nvCxnSpPr>
        <p:spPr>
          <a:xfrm>
            <a:off x="7297701" y="4454490"/>
            <a:ext cx="174925" cy="368657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43" name="直线箭头连接符 151">
            <a:extLst>
              <a:ext uri="{FF2B5EF4-FFF2-40B4-BE49-F238E27FC236}">
                <a16:creationId xmlns:a16="http://schemas.microsoft.com/office/drawing/2014/main" id="{56455D03-93CC-ED40-9333-6DB14B416B0F}"/>
              </a:ext>
            </a:extLst>
          </p:cNvPr>
          <p:cNvCxnSpPr>
            <a:cxnSpLocks/>
            <a:stCxn id="302" idx="3"/>
            <a:endCxn id="310" idx="1"/>
          </p:cNvCxnSpPr>
          <p:nvPr/>
        </p:nvCxnSpPr>
        <p:spPr>
          <a:xfrm flipV="1">
            <a:off x="7297701" y="4131212"/>
            <a:ext cx="178710" cy="323278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46" name="直线箭头连接符 151">
            <a:extLst>
              <a:ext uri="{FF2B5EF4-FFF2-40B4-BE49-F238E27FC236}">
                <a16:creationId xmlns:a16="http://schemas.microsoft.com/office/drawing/2014/main" id="{49B2FC51-6B12-EBBA-CA4D-5BB8D67B7BAF}"/>
              </a:ext>
            </a:extLst>
          </p:cNvPr>
          <p:cNvCxnSpPr>
            <a:cxnSpLocks/>
            <a:stCxn id="151" idx="3"/>
            <a:endCxn id="310" idx="0"/>
          </p:cNvCxnSpPr>
          <p:nvPr/>
        </p:nvCxnSpPr>
        <p:spPr>
          <a:xfrm flipH="1">
            <a:off x="7865321" y="2088664"/>
            <a:ext cx="413770" cy="1794898"/>
          </a:xfrm>
          <a:prstGeom prst="bentConnector4">
            <a:avLst>
              <a:gd name="adj1" fmla="val -39875"/>
              <a:gd name="adj2" fmla="val 70189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51" name="ch3-data">
            <a:extLst>
              <a:ext uri="{FF2B5EF4-FFF2-40B4-BE49-F238E27FC236}">
                <a16:creationId xmlns:a16="http://schemas.microsoft.com/office/drawing/2014/main" id="{D8269427-9BC7-9E4A-D1DD-6680E5DE8B1B}"/>
              </a:ext>
            </a:extLst>
          </p:cNvPr>
          <p:cNvSpPr>
            <a:spLocks noGrp="1"/>
          </p:cNvSpPr>
          <p:nvPr/>
        </p:nvSpPr>
        <p:spPr>
          <a:xfrm>
            <a:off x="3605052" y="5572103"/>
            <a:ext cx="2605169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阶段</a:t>
            </a: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1: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含</a:t>
            </a: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MaaS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情景下的单次出行采纳意愿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352" name="ch3-data">
            <a:extLst>
              <a:ext uri="{FF2B5EF4-FFF2-40B4-BE49-F238E27FC236}">
                <a16:creationId xmlns:a16="http://schemas.microsoft.com/office/drawing/2014/main" id="{CCAEFF1B-2E2B-321A-9283-5915DB69C46D}"/>
              </a:ext>
            </a:extLst>
          </p:cNvPr>
          <p:cNvSpPr>
            <a:spLocks noGrp="1"/>
          </p:cNvSpPr>
          <p:nvPr/>
        </p:nvSpPr>
        <p:spPr>
          <a:xfrm>
            <a:off x="6415651" y="5572103"/>
            <a:ext cx="1675431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阶段</a:t>
            </a: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2:MaaS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套餐订阅意愿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365" name="ch5-index">
            <a:extLst>
              <a:ext uri="{FF2B5EF4-FFF2-40B4-BE49-F238E27FC236}">
                <a16:creationId xmlns:a16="http://schemas.microsoft.com/office/drawing/2014/main" id="{EFF6C7FB-E5D1-60E4-DDCE-5BE64079B6FC}"/>
              </a:ext>
            </a:extLst>
          </p:cNvPr>
          <p:cNvSpPr>
            <a:spLocks noGrp="1"/>
          </p:cNvSpPr>
          <p:nvPr/>
        </p:nvSpPr>
        <p:spPr>
          <a:xfrm>
            <a:off x="3598071" y="6604777"/>
            <a:ext cx="384514" cy="1029023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模型结果分析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366" name="ch5-index">
            <a:extLst>
              <a:ext uri="{FF2B5EF4-FFF2-40B4-BE49-F238E27FC236}">
                <a16:creationId xmlns:a16="http://schemas.microsoft.com/office/drawing/2014/main" id="{80566AF3-D46D-3C4F-A2D3-53427274390C}"/>
              </a:ext>
            </a:extLst>
          </p:cNvPr>
          <p:cNvSpPr>
            <a:spLocks noGrp="1"/>
          </p:cNvSpPr>
          <p:nvPr/>
        </p:nvSpPr>
        <p:spPr>
          <a:xfrm>
            <a:off x="4187486" y="6610328"/>
            <a:ext cx="384514" cy="1029023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灵敏度与弹性分析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cxnSp>
        <p:nvCxnSpPr>
          <p:cNvPr id="382" name="直线箭头连接符 151">
            <a:extLst>
              <a:ext uri="{FF2B5EF4-FFF2-40B4-BE49-F238E27FC236}">
                <a16:creationId xmlns:a16="http://schemas.microsoft.com/office/drawing/2014/main" id="{07DE4714-7E89-C280-8DB6-D4B35EF54D4C}"/>
              </a:ext>
            </a:extLst>
          </p:cNvPr>
          <p:cNvCxnSpPr>
            <a:cxnSpLocks/>
            <a:stCxn id="55" idx="3"/>
            <a:endCxn id="365" idx="1"/>
          </p:cNvCxnSpPr>
          <p:nvPr/>
        </p:nvCxnSpPr>
        <p:spPr>
          <a:xfrm flipV="1">
            <a:off x="3365638" y="7119289"/>
            <a:ext cx="232433" cy="605464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85" name="直线箭头连接符 151">
            <a:extLst>
              <a:ext uri="{FF2B5EF4-FFF2-40B4-BE49-F238E27FC236}">
                <a16:creationId xmlns:a16="http://schemas.microsoft.com/office/drawing/2014/main" id="{37789C9E-165C-A6A0-A49D-84DCADE595E4}"/>
              </a:ext>
            </a:extLst>
          </p:cNvPr>
          <p:cNvCxnSpPr>
            <a:cxnSpLocks/>
            <a:stCxn id="55" idx="3"/>
            <a:endCxn id="366" idx="2"/>
          </p:cNvCxnSpPr>
          <p:nvPr/>
        </p:nvCxnSpPr>
        <p:spPr>
          <a:xfrm flipV="1">
            <a:off x="3365638" y="7639351"/>
            <a:ext cx="1014105" cy="85402"/>
          </a:xfrm>
          <a:prstGeom prst="bentConnector2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88" name="直线箭头连接符 151">
            <a:extLst>
              <a:ext uri="{FF2B5EF4-FFF2-40B4-BE49-F238E27FC236}">
                <a16:creationId xmlns:a16="http://schemas.microsoft.com/office/drawing/2014/main" id="{0D8D4A4C-E989-6789-6F59-302D4607D699}"/>
              </a:ext>
            </a:extLst>
          </p:cNvPr>
          <p:cNvCxnSpPr>
            <a:cxnSpLocks/>
            <a:stCxn id="53" idx="3"/>
            <a:endCxn id="365" idx="1"/>
          </p:cNvCxnSpPr>
          <p:nvPr/>
        </p:nvCxnSpPr>
        <p:spPr>
          <a:xfrm>
            <a:off x="3365638" y="6653190"/>
            <a:ext cx="232433" cy="466099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91" name="直线箭头连接符 151">
            <a:extLst>
              <a:ext uri="{FF2B5EF4-FFF2-40B4-BE49-F238E27FC236}">
                <a16:creationId xmlns:a16="http://schemas.microsoft.com/office/drawing/2014/main" id="{8CE10BD8-A504-B9AD-5308-1F5FF817B29D}"/>
              </a:ext>
            </a:extLst>
          </p:cNvPr>
          <p:cNvCxnSpPr>
            <a:cxnSpLocks/>
            <a:stCxn id="53" idx="3"/>
            <a:endCxn id="366" idx="0"/>
          </p:cNvCxnSpPr>
          <p:nvPr/>
        </p:nvCxnSpPr>
        <p:spPr>
          <a:xfrm flipV="1">
            <a:off x="3365638" y="6610328"/>
            <a:ext cx="1014105" cy="42862"/>
          </a:xfrm>
          <a:prstGeom prst="bentConnector4">
            <a:avLst>
              <a:gd name="adj1" fmla="val 11484"/>
              <a:gd name="adj2" fmla="val 460457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23" name="ch12-review-group">
            <a:extLst>
              <a:ext uri="{FF2B5EF4-FFF2-40B4-BE49-F238E27FC236}">
                <a16:creationId xmlns:a16="http://schemas.microsoft.com/office/drawing/2014/main" id="{5A094250-ED3E-E1FF-307A-9CB21B3CC962}"/>
              </a:ext>
            </a:extLst>
          </p:cNvPr>
          <p:cNvSpPr>
            <a:spLocks noGrp="1"/>
          </p:cNvSpPr>
          <p:nvPr/>
        </p:nvSpPr>
        <p:spPr>
          <a:xfrm>
            <a:off x="1599080" y="10096478"/>
            <a:ext cx="6400800" cy="257175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3A878727-B605-7CDD-9820-E23292EB59D3}"/>
              </a:ext>
            </a:extLst>
          </p:cNvPr>
          <p:cNvSpPr txBox="1"/>
          <p:nvPr/>
        </p:nvSpPr>
        <p:spPr>
          <a:xfrm>
            <a:off x="1666875" y="10095905"/>
            <a:ext cx="13620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仿真优化问题构建</a:t>
            </a:r>
          </a:p>
        </p:txBody>
      </p:sp>
      <p:sp>
        <p:nvSpPr>
          <p:cNvPr id="427" name="ch7-hybrid-surrogate">
            <a:extLst>
              <a:ext uri="{FF2B5EF4-FFF2-40B4-BE49-F238E27FC236}">
                <a16:creationId xmlns:a16="http://schemas.microsoft.com/office/drawing/2014/main" id="{97F9C92E-35A2-E629-1323-3FA0898D232D}"/>
              </a:ext>
            </a:extLst>
          </p:cNvPr>
          <p:cNvSpPr>
            <a:spLocks noGrp="1"/>
          </p:cNvSpPr>
          <p:nvPr/>
        </p:nvSpPr>
        <p:spPr>
          <a:xfrm>
            <a:off x="3105150" y="10130949"/>
            <a:ext cx="1524000" cy="171596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推广策略决策空间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28" name="ch7-hybrid-surrogate">
            <a:extLst>
              <a:ext uri="{FF2B5EF4-FFF2-40B4-BE49-F238E27FC236}">
                <a16:creationId xmlns:a16="http://schemas.microsoft.com/office/drawing/2014/main" id="{64C787C0-658E-9608-2A28-3509683A9870}"/>
              </a:ext>
            </a:extLst>
          </p:cNvPr>
          <p:cNvSpPr>
            <a:spLocks noGrp="1"/>
          </p:cNvSpPr>
          <p:nvPr/>
        </p:nvSpPr>
        <p:spPr>
          <a:xfrm>
            <a:off x="4735580" y="10132639"/>
            <a:ext cx="2109168" cy="171596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采纳率、净收入、碳减排多目标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29" name="ch7-hybrid-surrogate">
            <a:extLst>
              <a:ext uri="{FF2B5EF4-FFF2-40B4-BE49-F238E27FC236}">
                <a16:creationId xmlns:a16="http://schemas.microsoft.com/office/drawing/2014/main" id="{90424B15-EE7D-A7FA-DEA8-78CF48D7669E}"/>
              </a:ext>
            </a:extLst>
          </p:cNvPr>
          <p:cNvSpPr>
            <a:spLocks noGrp="1"/>
          </p:cNvSpPr>
          <p:nvPr/>
        </p:nvSpPr>
        <p:spPr>
          <a:xfrm>
            <a:off x="6950764" y="10132639"/>
            <a:ext cx="930965" cy="171596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仿真约束条件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33" name="ch12-review-group">
            <a:extLst>
              <a:ext uri="{FF2B5EF4-FFF2-40B4-BE49-F238E27FC236}">
                <a16:creationId xmlns:a16="http://schemas.microsoft.com/office/drawing/2014/main" id="{262DE696-AAA7-2534-95DA-115FAC7B7613}"/>
              </a:ext>
            </a:extLst>
          </p:cNvPr>
          <p:cNvSpPr>
            <a:spLocks noGrp="1"/>
          </p:cNvSpPr>
          <p:nvPr/>
        </p:nvSpPr>
        <p:spPr>
          <a:xfrm>
            <a:off x="1962024" y="10560425"/>
            <a:ext cx="1223238" cy="831453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1E1ADD75-66F6-5715-964D-0F63A90687D6}"/>
              </a:ext>
            </a:extLst>
          </p:cNvPr>
          <p:cNvSpPr txBox="1"/>
          <p:nvPr/>
        </p:nvSpPr>
        <p:spPr>
          <a:xfrm>
            <a:off x="1523999" y="10672435"/>
            <a:ext cx="4780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混合解析代理</a:t>
            </a:r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06D22C72-2FF9-17AD-747C-6561AF094390}"/>
              </a:ext>
            </a:extLst>
          </p:cNvPr>
          <p:cNvSpPr txBox="1"/>
          <p:nvPr/>
        </p:nvSpPr>
        <p:spPr>
          <a:xfrm>
            <a:off x="1960600" y="10538372"/>
            <a:ext cx="1248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前向递推过程</a:t>
            </a:r>
          </a:p>
        </p:txBody>
      </p:sp>
      <p:sp>
        <p:nvSpPr>
          <p:cNvPr id="437" name="ch3-data">
            <a:extLst>
              <a:ext uri="{FF2B5EF4-FFF2-40B4-BE49-F238E27FC236}">
                <a16:creationId xmlns:a16="http://schemas.microsoft.com/office/drawing/2014/main" id="{83E95BB0-D486-B790-85DF-F260A6E4CEEF}"/>
              </a:ext>
            </a:extLst>
          </p:cNvPr>
          <p:cNvSpPr>
            <a:spLocks noGrp="1"/>
          </p:cNvSpPr>
          <p:nvPr/>
        </p:nvSpPr>
        <p:spPr>
          <a:xfrm>
            <a:off x="2029810" y="10794549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平均场近似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38" name="ch3-data">
            <a:extLst>
              <a:ext uri="{FF2B5EF4-FFF2-40B4-BE49-F238E27FC236}">
                <a16:creationId xmlns:a16="http://schemas.microsoft.com/office/drawing/2014/main" id="{E2E275E8-9600-A446-824C-0ACED6FCA223}"/>
              </a:ext>
            </a:extLst>
          </p:cNvPr>
          <p:cNvSpPr>
            <a:spLocks noGrp="1"/>
          </p:cNvSpPr>
          <p:nvPr/>
        </p:nvSpPr>
        <p:spPr>
          <a:xfrm>
            <a:off x="2029810" y="11093179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目标函数近似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39" name="ch12-review-group">
            <a:extLst>
              <a:ext uri="{FF2B5EF4-FFF2-40B4-BE49-F238E27FC236}">
                <a16:creationId xmlns:a16="http://schemas.microsoft.com/office/drawing/2014/main" id="{E9A053FA-B5A5-6678-EDB0-5BBE02F2E89B}"/>
              </a:ext>
            </a:extLst>
          </p:cNvPr>
          <p:cNvSpPr>
            <a:spLocks noGrp="1"/>
          </p:cNvSpPr>
          <p:nvPr/>
        </p:nvSpPr>
        <p:spPr>
          <a:xfrm>
            <a:off x="3335449" y="10566347"/>
            <a:ext cx="1306539" cy="831453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" name="文本框 439">
            <a:extLst>
              <a:ext uri="{FF2B5EF4-FFF2-40B4-BE49-F238E27FC236}">
                <a16:creationId xmlns:a16="http://schemas.microsoft.com/office/drawing/2014/main" id="{05045994-87A0-C715-A539-0D98D7075E2C}"/>
              </a:ext>
            </a:extLst>
          </p:cNvPr>
          <p:cNvSpPr txBox="1"/>
          <p:nvPr/>
        </p:nvSpPr>
        <p:spPr>
          <a:xfrm>
            <a:off x="3357519" y="10544294"/>
            <a:ext cx="1248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反向求解过程</a:t>
            </a:r>
          </a:p>
        </p:txBody>
      </p:sp>
      <p:sp>
        <p:nvSpPr>
          <p:cNvPr id="441" name="ch3-data">
            <a:extLst>
              <a:ext uri="{FF2B5EF4-FFF2-40B4-BE49-F238E27FC236}">
                <a16:creationId xmlns:a16="http://schemas.microsoft.com/office/drawing/2014/main" id="{05C6FA63-CB83-62AE-3D4F-7F7486EFDA6A}"/>
              </a:ext>
            </a:extLst>
          </p:cNvPr>
          <p:cNvSpPr>
            <a:spLocks noGrp="1"/>
          </p:cNvSpPr>
          <p:nvPr/>
        </p:nvSpPr>
        <p:spPr>
          <a:xfrm>
            <a:off x="3371783" y="10800471"/>
            <a:ext cx="1234090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梯度计算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42" name="ch3-data">
            <a:extLst>
              <a:ext uri="{FF2B5EF4-FFF2-40B4-BE49-F238E27FC236}">
                <a16:creationId xmlns:a16="http://schemas.microsoft.com/office/drawing/2014/main" id="{4BD3A9A0-6E58-B149-D3DD-A148871807DE}"/>
              </a:ext>
            </a:extLst>
          </p:cNvPr>
          <p:cNvSpPr>
            <a:spLocks noGrp="1"/>
          </p:cNvSpPr>
          <p:nvPr/>
        </p:nvSpPr>
        <p:spPr>
          <a:xfrm>
            <a:off x="3365727" y="11099101"/>
            <a:ext cx="1240145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有限内存拟牛顿法</a:t>
            </a:r>
          </a:p>
        </p:txBody>
      </p:sp>
      <p:sp>
        <p:nvSpPr>
          <p:cNvPr id="443" name="ch7-hybrid-surrogate">
            <a:extLst>
              <a:ext uri="{FF2B5EF4-FFF2-40B4-BE49-F238E27FC236}">
                <a16:creationId xmlns:a16="http://schemas.microsoft.com/office/drawing/2014/main" id="{9BDE8C8B-907B-1507-BDAA-00863101C199}"/>
              </a:ext>
            </a:extLst>
          </p:cNvPr>
          <p:cNvSpPr>
            <a:spLocks noGrp="1"/>
          </p:cNvSpPr>
          <p:nvPr/>
        </p:nvSpPr>
        <p:spPr>
          <a:xfrm>
            <a:off x="4933950" y="10508026"/>
            <a:ext cx="3048000" cy="937613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/>
            <a:endParaRPr sz="1100" b="1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44" name="ch12-review-group">
            <a:extLst>
              <a:ext uri="{FF2B5EF4-FFF2-40B4-BE49-F238E27FC236}">
                <a16:creationId xmlns:a16="http://schemas.microsoft.com/office/drawing/2014/main" id="{F9AE7A61-75BD-6404-F1CF-7FCB2E91945E}"/>
              </a:ext>
            </a:extLst>
          </p:cNvPr>
          <p:cNvSpPr>
            <a:spLocks noGrp="1"/>
          </p:cNvSpPr>
          <p:nvPr/>
        </p:nvSpPr>
        <p:spPr>
          <a:xfrm>
            <a:off x="5314824" y="10533426"/>
            <a:ext cx="1223238" cy="831453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6E882765-5DC5-8E52-80BB-335D587F1C8A}"/>
              </a:ext>
            </a:extLst>
          </p:cNvPr>
          <p:cNvSpPr txBox="1"/>
          <p:nvPr/>
        </p:nvSpPr>
        <p:spPr>
          <a:xfrm>
            <a:off x="4887604" y="10644143"/>
            <a:ext cx="4780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深度学习代理</a:t>
            </a:r>
          </a:p>
        </p:txBody>
      </p:sp>
      <p:sp>
        <p:nvSpPr>
          <p:cNvPr id="446" name="文本框 445">
            <a:extLst>
              <a:ext uri="{FF2B5EF4-FFF2-40B4-BE49-F238E27FC236}">
                <a16:creationId xmlns:a16="http://schemas.microsoft.com/office/drawing/2014/main" id="{FB8EAC87-D1D4-8A4B-8956-183B8A0B9015}"/>
              </a:ext>
            </a:extLst>
          </p:cNvPr>
          <p:cNvSpPr txBox="1"/>
          <p:nvPr/>
        </p:nvSpPr>
        <p:spPr>
          <a:xfrm>
            <a:off x="5313400" y="10511373"/>
            <a:ext cx="1248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前向递推过程</a:t>
            </a:r>
          </a:p>
        </p:txBody>
      </p:sp>
      <p:sp>
        <p:nvSpPr>
          <p:cNvPr id="447" name="ch3-data">
            <a:extLst>
              <a:ext uri="{FF2B5EF4-FFF2-40B4-BE49-F238E27FC236}">
                <a16:creationId xmlns:a16="http://schemas.microsoft.com/office/drawing/2014/main" id="{EC11F70D-7306-440E-D403-9ABE53BC1F14}"/>
              </a:ext>
            </a:extLst>
          </p:cNvPr>
          <p:cNvSpPr>
            <a:spLocks noGrp="1"/>
          </p:cNvSpPr>
          <p:nvPr/>
        </p:nvSpPr>
        <p:spPr>
          <a:xfrm>
            <a:off x="5382610" y="10767550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编码器设计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48" name="ch3-data">
            <a:extLst>
              <a:ext uri="{FF2B5EF4-FFF2-40B4-BE49-F238E27FC236}">
                <a16:creationId xmlns:a16="http://schemas.microsoft.com/office/drawing/2014/main" id="{B865CECE-F6E4-67A4-5BAD-40BBC10F49D8}"/>
              </a:ext>
            </a:extLst>
          </p:cNvPr>
          <p:cNvSpPr>
            <a:spLocks noGrp="1"/>
          </p:cNvSpPr>
          <p:nvPr/>
        </p:nvSpPr>
        <p:spPr>
          <a:xfrm>
            <a:off x="5382610" y="11066180"/>
            <a:ext cx="1064956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解码器设计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49" name="ch12-review-group">
            <a:extLst>
              <a:ext uri="{FF2B5EF4-FFF2-40B4-BE49-F238E27FC236}">
                <a16:creationId xmlns:a16="http://schemas.microsoft.com/office/drawing/2014/main" id="{8CF2CDF3-F122-1AFA-1C1F-97BB4C5BB06A}"/>
              </a:ext>
            </a:extLst>
          </p:cNvPr>
          <p:cNvSpPr>
            <a:spLocks noGrp="1"/>
          </p:cNvSpPr>
          <p:nvPr/>
        </p:nvSpPr>
        <p:spPr>
          <a:xfrm>
            <a:off x="6604673" y="10539348"/>
            <a:ext cx="1306539" cy="831453"/>
          </a:xfrm>
          <a:prstGeom prst="roundRect">
            <a:avLst>
              <a:gd name="adj" fmla="val 5882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" name="文本框 449">
            <a:extLst>
              <a:ext uri="{FF2B5EF4-FFF2-40B4-BE49-F238E27FC236}">
                <a16:creationId xmlns:a16="http://schemas.microsoft.com/office/drawing/2014/main" id="{FAC9B1BE-A793-86ED-B844-B5A94B97FC15}"/>
              </a:ext>
            </a:extLst>
          </p:cNvPr>
          <p:cNvSpPr txBox="1"/>
          <p:nvPr/>
        </p:nvSpPr>
        <p:spPr>
          <a:xfrm>
            <a:off x="6626743" y="10517295"/>
            <a:ext cx="1248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反向求解过程</a:t>
            </a:r>
          </a:p>
        </p:txBody>
      </p:sp>
      <p:sp>
        <p:nvSpPr>
          <p:cNvPr id="451" name="ch3-data">
            <a:extLst>
              <a:ext uri="{FF2B5EF4-FFF2-40B4-BE49-F238E27FC236}">
                <a16:creationId xmlns:a16="http://schemas.microsoft.com/office/drawing/2014/main" id="{808FFAB5-7A4B-14DE-39EF-B960C20612AF}"/>
              </a:ext>
            </a:extLst>
          </p:cNvPr>
          <p:cNvSpPr>
            <a:spLocks noGrp="1"/>
          </p:cNvSpPr>
          <p:nvPr/>
        </p:nvSpPr>
        <p:spPr>
          <a:xfrm>
            <a:off x="6641007" y="10773472"/>
            <a:ext cx="1234090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预激活边界收紧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52" name="ch3-data">
            <a:extLst>
              <a:ext uri="{FF2B5EF4-FFF2-40B4-BE49-F238E27FC236}">
                <a16:creationId xmlns:a16="http://schemas.microsoft.com/office/drawing/2014/main" id="{F893CFC6-29B6-4B23-7C3D-E91224DE42E4}"/>
              </a:ext>
            </a:extLst>
          </p:cNvPr>
          <p:cNvSpPr>
            <a:spLocks noGrp="1"/>
          </p:cNvSpPr>
          <p:nvPr/>
        </p:nvSpPr>
        <p:spPr>
          <a:xfrm>
            <a:off x="6634951" y="11072102"/>
            <a:ext cx="1240145" cy="240890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MIP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问题精确求解</a:t>
            </a:r>
          </a:p>
        </p:txBody>
      </p:sp>
      <p:cxnSp>
        <p:nvCxnSpPr>
          <p:cNvPr id="453" name="直线箭头连接符 452">
            <a:extLst>
              <a:ext uri="{FF2B5EF4-FFF2-40B4-BE49-F238E27FC236}">
                <a16:creationId xmlns:a16="http://schemas.microsoft.com/office/drawing/2014/main" id="{8180EBA6-9775-BB00-4F40-EC775A4485BD}"/>
              </a:ext>
            </a:extLst>
          </p:cNvPr>
          <p:cNvCxnSpPr>
            <a:cxnSpLocks/>
            <a:stCxn id="423" idx="2"/>
          </p:cNvCxnSpPr>
          <p:nvPr/>
        </p:nvCxnSpPr>
        <p:spPr>
          <a:xfrm flipH="1">
            <a:off x="2150829" y="10353653"/>
            <a:ext cx="2648651" cy="147816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56" name="直线箭头连接符 455">
            <a:extLst>
              <a:ext uri="{FF2B5EF4-FFF2-40B4-BE49-F238E27FC236}">
                <a16:creationId xmlns:a16="http://schemas.microsoft.com/office/drawing/2014/main" id="{05CF37DA-FE43-73F0-39ED-1F0179EB11D2}"/>
              </a:ext>
            </a:extLst>
          </p:cNvPr>
          <p:cNvCxnSpPr>
            <a:cxnSpLocks/>
            <a:stCxn id="423" idx="2"/>
          </p:cNvCxnSpPr>
          <p:nvPr/>
        </p:nvCxnSpPr>
        <p:spPr>
          <a:xfrm>
            <a:off x="4799480" y="10353653"/>
            <a:ext cx="2837692" cy="147816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62" name="文本框 461">
            <a:extLst>
              <a:ext uri="{FF2B5EF4-FFF2-40B4-BE49-F238E27FC236}">
                <a16:creationId xmlns:a16="http://schemas.microsoft.com/office/drawing/2014/main" id="{B14578F9-0CAF-9DB7-725D-13B711CC76B8}"/>
              </a:ext>
            </a:extLst>
          </p:cNvPr>
          <p:cNvSpPr txBox="1"/>
          <p:nvPr/>
        </p:nvSpPr>
        <p:spPr>
          <a:xfrm>
            <a:off x="4324348" y="10325996"/>
            <a:ext cx="8953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9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代理模型设计</a:t>
            </a:r>
          </a:p>
        </p:txBody>
      </p:sp>
      <p:sp>
        <p:nvSpPr>
          <p:cNvPr id="463" name="ch7-surrogate-group">
            <a:extLst>
              <a:ext uri="{FF2B5EF4-FFF2-40B4-BE49-F238E27FC236}">
                <a16:creationId xmlns:a16="http://schemas.microsoft.com/office/drawing/2014/main" id="{0BD9614B-0A18-C07F-252B-56D672A4FF37}"/>
              </a:ext>
            </a:extLst>
          </p:cNvPr>
          <p:cNvSpPr>
            <a:spLocks noGrp="1"/>
          </p:cNvSpPr>
          <p:nvPr/>
        </p:nvSpPr>
        <p:spPr>
          <a:xfrm>
            <a:off x="1526917" y="11581957"/>
            <a:ext cx="6572250" cy="529258"/>
          </a:xfrm>
          <a:prstGeom prst="roundRect">
            <a:avLst>
              <a:gd name="adj" fmla="val 2500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4" name="文本框 463">
            <a:extLst>
              <a:ext uri="{FF2B5EF4-FFF2-40B4-BE49-F238E27FC236}">
                <a16:creationId xmlns:a16="http://schemas.microsoft.com/office/drawing/2014/main" id="{988A4575-1941-53B9-15B8-DF8A188D2C46}"/>
              </a:ext>
            </a:extLst>
          </p:cNvPr>
          <p:cNvSpPr txBox="1"/>
          <p:nvPr/>
        </p:nvSpPr>
        <p:spPr>
          <a:xfrm>
            <a:off x="3028949" y="11575417"/>
            <a:ext cx="3476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1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基于信赖域机制的多目标优化</a:t>
            </a:r>
          </a:p>
        </p:txBody>
      </p:sp>
      <p:sp>
        <p:nvSpPr>
          <p:cNvPr id="465" name="ch7-awareness">
            <a:extLst>
              <a:ext uri="{FF2B5EF4-FFF2-40B4-BE49-F238E27FC236}">
                <a16:creationId xmlns:a16="http://schemas.microsoft.com/office/drawing/2014/main" id="{044BBA73-CB10-64CD-2E65-AE366AEF4BEB}"/>
              </a:ext>
            </a:extLst>
          </p:cNvPr>
          <p:cNvSpPr>
            <a:spLocks noGrp="1"/>
          </p:cNvSpPr>
          <p:nvPr/>
        </p:nvSpPr>
        <p:spPr>
          <a:xfrm>
            <a:off x="1581149" y="11835506"/>
            <a:ext cx="1447800" cy="227644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三目标信赖域设定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66" name="ch7-awareness">
            <a:extLst>
              <a:ext uri="{FF2B5EF4-FFF2-40B4-BE49-F238E27FC236}">
                <a16:creationId xmlns:a16="http://schemas.microsoft.com/office/drawing/2014/main" id="{5E4468A7-B37A-79CE-1976-478C2D19B906}"/>
              </a:ext>
            </a:extLst>
          </p:cNvPr>
          <p:cNvSpPr>
            <a:spLocks noGrp="1"/>
          </p:cNvSpPr>
          <p:nvPr/>
        </p:nvSpPr>
        <p:spPr>
          <a:xfrm>
            <a:off x="3238500" y="11835505"/>
            <a:ext cx="1447800" cy="227644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候选策略求解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67" name="ch7-awareness">
            <a:extLst>
              <a:ext uri="{FF2B5EF4-FFF2-40B4-BE49-F238E27FC236}">
                <a16:creationId xmlns:a16="http://schemas.microsoft.com/office/drawing/2014/main" id="{18DF849A-2299-472D-6BA2-8E4117DD7C59}"/>
              </a:ext>
            </a:extLst>
          </p:cNvPr>
          <p:cNvSpPr>
            <a:spLocks noGrp="1"/>
          </p:cNvSpPr>
          <p:nvPr/>
        </p:nvSpPr>
        <p:spPr>
          <a:xfrm>
            <a:off x="4923597" y="11833377"/>
            <a:ext cx="1447800" cy="227644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仿真模型评估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68" name="ch7-awareness">
            <a:extLst>
              <a:ext uri="{FF2B5EF4-FFF2-40B4-BE49-F238E27FC236}">
                <a16:creationId xmlns:a16="http://schemas.microsoft.com/office/drawing/2014/main" id="{74716D64-1824-5237-B40C-9040BB79D7B1}"/>
              </a:ext>
            </a:extLst>
          </p:cNvPr>
          <p:cNvSpPr>
            <a:spLocks noGrp="1"/>
          </p:cNvSpPr>
          <p:nvPr/>
        </p:nvSpPr>
        <p:spPr>
          <a:xfrm>
            <a:off x="6543675" y="11833376"/>
            <a:ext cx="1447800" cy="227644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信赖域更新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70" name="ch7-surrogate-group">
            <a:extLst>
              <a:ext uri="{FF2B5EF4-FFF2-40B4-BE49-F238E27FC236}">
                <a16:creationId xmlns:a16="http://schemas.microsoft.com/office/drawing/2014/main" id="{7D0C0AF2-89A7-4767-8DCC-AEBCE9F9F7CD}"/>
              </a:ext>
            </a:extLst>
          </p:cNvPr>
          <p:cNvSpPr>
            <a:spLocks noGrp="1"/>
          </p:cNvSpPr>
          <p:nvPr/>
        </p:nvSpPr>
        <p:spPr>
          <a:xfrm>
            <a:off x="1529830" y="12256066"/>
            <a:ext cx="6572250" cy="529258"/>
          </a:xfrm>
          <a:prstGeom prst="roundRect">
            <a:avLst>
              <a:gd name="adj" fmla="val 2500"/>
            </a:avLst>
          </a:prstGeom>
          <a:noFill/>
          <a:ln w="8573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" name="文本框 470">
            <a:extLst>
              <a:ext uri="{FF2B5EF4-FFF2-40B4-BE49-F238E27FC236}">
                <a16:creationId xmlns:a16="http://schemas.microsoft.com/office/drawing/2014/main" id="{AB2B6AEC-F2C4-EFA6-7DF1-2E2003C74A14}"/>
              </a:ext>
            </a:extLst>
          </p:cNvPr>
          <p:cNvSpPr txBox="1"/>
          <p:nvPr/>
        </p:nvSpPr>
        <p:spPr>
          <a:xfrm>
            <a:off x="3019422" y="12251695"/>
            <a:ext cx="3476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8" b="0" i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1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居民出行调查与城市级仿真人口算例验证</a:t>
            </a:r>
          </a:p>
        </p:txBody>
      </p:sp>
      <p:sp>
        <p:nvSpPr>
          <p:cNvPr id="472" name="ch7-awareness">
            <a:extLst>
              <a:ext uri="{FF2B5EF4-FFF2-40B4-BE49-F238E27FC236}">
                <a16:creationId xmlns:a16="http://schemas.microsoft.com/office/drawing/2014/main" id="{13C14324-B295-C068-7387-716ABB624888}"/>
              </a:ext>
            </a:extLst>
          </p:cNvPr>
          <p:cNvSpPr>
            <a:spLocks noGrp="1"/>
          </p:cNvSpPr>
          <p:nvPr/>
        </p:nvSpPr>
        <p:spPr>
          <a:xfrm>
            <a:off x="1571622" y="12509615"/>
            <a:ext cx="1447800" cy="227644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深度学习代理有效性</a:t>
            </a:r>
          </a:p>
        </p:txBody>
      </p:sp>
      <p:sp>
        <p:nvSpPr>
          <p:cNvPr id="473" name="ch7-awareness">
            <a:extLst>
              <a:ext uri="{FF2B5EF4-FFF2-40B4-BE49-F238E27FC236}">
                <a16:creationId xmlns:a16="http://schemas.microsoft.com/office/drawing/2014/main" id="{1CE2B444-5186-4F17-A734-7E62C07F5987}"/>
              </a:ext>
            </a:extLst>
          </p:cNvPr>
          <p:cNvSpPr>
            <a:spLocks noGrp="1"/>
          </p:cNvSpPr>
          <p:nvPr/>
        </p:nvSpPr>
        <p:spPr>
          <a:xfrm>
            <a:off x="3228973" y="12509614"/>
            <a:ext cx="1447800" cy="227644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代理模型性能对比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74" name="ch7-awareness">
            <a:extLst>
              <a:ext uri="{FF2B5EF4-FFF2-40B4-BE49-F238E27FC236}">
                <a16:creationId xmlns:a16="http://schemas.microsoft.com/office/drawing/2014/main" id="{9BB2D6C1-696E-0518-356F-8917F03329EC}"/>
              </a:ext>
            </a:extLst>
          </p:cNvPr>
          <p:cNvSpPr>
            <a:spLocks noGrp="1"/>
          </p:cNvSpPr>
          <p:nvPr/>
        </p:nvSpPr>
        <p:spPr>
          <a:xfrm>
            <a:off x="4914070" y="12516539"/>
            <a:ext cx="1447800" cy="227644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多目标</a:t>
            </a:r>
            <a:r>
              <a:rPr lang="en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Pareto</a:t>
            </a:r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前沿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sp>
        <p:nvSpPr>
          <p:cNvPr id="475" name="ch7-awareness">
            <a:extLst>
              <a:ext uri="{FF2B5EF4-FFF2-40B4-BE49-F238E27FC236}">
                <a16:creationId xmlns:a16="http://schemas.microsoft.com/office/drawing/2014/main" id="{556791C1-164B-D2E0-64D3-4933758408B8}"/>
              </a:ext>
            </a:extLst>
          </p:cNvPr>
          <p:cNvSpPr>
            <a:spLocks noGrp="1"/>
          </p:cNvSpPr>
          <p:nvPr/>
        </p:nvSpPr>
        <p:spPr>
          <a:xfrm>
            <a:off x="6534148" y="12516538"/>
            <a:ext cx="1447800" cy="227644"/>
          </a:xfrm>
          <a:prstGeom prst="rect">
            <a:avLst/>
          </a:prstGeom>
          <a:solidFill>
            <a:srgbClr val="FFFFFF"/>
          </a:solidFill>
          <a:ln w="8096">
            <a:solidFill>
              <a:srgbClr val="000000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imSun"/>
                <a:cs typeface="Times New Roman" panose="02020603050405020304" pitchFamily="18" charset="0"/>
              </a:rPr>
              <a:t>代表策略效果分析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SimSun"/>
              <a:cs typeface="Times New Roman" panose="02020603050405020304" pitchFamily="18" charset="0"/>
            </a:endParaRPr>
          </a:p>
        </p:txBody>
      </p:sp>
      <p:cxnSp>
        <p:nvCxnSpPr>
          <p:cNvPr id="476" name="直线箭头连接符 475">
            <a:extLst>
              <a:ext uri="{FF2B5EF4-FFF2-40B4-BE49-F238E27FC236}">
                <a16:creationId xmlns:a16="http://schemas.microsoft.com/office/drawing/2014/main" id="{C6F14D60-73B3-8575-27D2-888BA6A41F6C}"/>
              </a:ext>
            </a:extLst>
          </p:cNvPr>
          <p:cNvCxnSpPr>
            <a:cxnSpLocks/>
            <a:stCxn id="465" idx="3"/>
            <a:endCxn id="466" idx="1"/>
          </p:cNvCxnSpPr>
          <p:nvPr/>
        </p:nvCxnSpPr>
        <p:spPr>
          <a:xfrm flipV="1">
            <a:off x="3028949" y="11949327"/>
            <a:ext cx="209551" cy="1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79" name="直线箭头连接符 478">
            <a:extLst>
              <a:ext uri="{FF2B5EF4-FFF2-40B4-BE49-F238E27FC236}">
                <a16:creationId xmlns:a16="http://schemas.microsoft.com/office/drawing/2014/main" id="{35641A9B-45A4-4B48-7199-2772FF84DCF6}"/>
              </a:ext>
            </a:extLst>
          </p:cNvPr>
          <p:cNvCxnSpPr>
            <a:cxnSpLocks/>
            <a:stCxn id="466" idx="3"/>
            <a:endCxn id="467" idx="1"/>
          </p:cNvCxnSpPr>
          <p:nvPr/>
        </p:nvCxnSpPr>
        <p:spPr>
          <a:xfrm flipV="1">
            <a:off x="4686300" y="11947199"/>
            <a:ext cx="237297" cy="2128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82" name="直线箭头连接符 481">
            <a:extLst>
              <a:ext uri="{FF2B5EF4-FFF2-40B4-BE49-F238E27FC236}">
                <a16:creationId xmlns:a16="http://schemas.microsoft.com/office/drawing/2014/main" id="{AE069B3C-2784-37D6-8B81-56F537590D99}"/>
              </a:ext>
            </a:extLst>
          </p:cNvPr>
          <p:cNvCxnSpPr>
            <a:cxnSpLocks/>
            <a:stCxn id="467" idx="3"/>
            <a:endCxn id="468" idx="1"/>
          </p:cNvCxnSpPr>
          <p:nvPr/>
        </p:nvCxnSpPr>
        <p:spPr>
          <a:xfrm flipV="1">
            <a:off x="6371397" y="11947198"/>
            <a:ext cx="172278" cy="1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87" name="直线箭头连接符 486">
            <a:extLst>
              <a:ext uri="{FF2B5EF4-FFF2-40B4-BE49-F238E27FC236}">
                <a16:creationId xmlns:a16="http://schemas.microsoft.com/office/drawing/2014/main" id="{DE2FCB31-D8B6-4562-48D8-2255BA49B660}"/>
              </a:ext>
            </a:extLst>
          </p:cNvPr>
          <p:cNvCxnSpPr>
            <a:cxnSpLocks/>
            <a:stCxn id="77" idx="3"/>
            <a:endCxn id="443" idx="1"/>
          </p:cNvCxnSpPr>
          <p:nvPr/>
        </p:nvCxnSpPr>
        <p:spPr>
          <a:xfrm flipV="1">
            <a:off x="4714874" y="10976833"/>
            <a:ext cx="219076" cy="3329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93" name="直线箭头连接符 492">
            <a:extLst>
              <a:ext uri="{FF2B5EF4-FFF2-40B4-BE49-F238E27FC236}">
                <a16:creationId xmlns:a16="http://schemas.microsoft.com/office/drawing/2014/main" id="{02C2D2EA-3538-8CD7-B428-506077631143}"/>
              </a:ext>
            </a:extLst>
          </p:cNvPr>
          <p:cNvCxnSpPr>
            <a:cxnSpLocks/>
            <a:stCxn id="71" idx="3"/>
            <a:endCxn id="72" idx="1"/>
          </p:cNvCxnSpPr>
          <p:nvPr/>
        </p:nvCxnSpPr>
        <p:spPr>
          <a:xfrm>
            <a:off x="4438650" y="9477353"/>
            <a:ext cx="143800" cy="0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05" name="直线箭头连接符 504">
            <a:extLst>
              <a:ext uri="{FF2B5EF4-FFF2-40B4-BE49-F238E27FC236}">
                <a16:creationId xmlns:a16="http://schemas.microsoft.com/office/drawing/2014/main" id="{75D11C32-F539-E129-369D-C02908FE79E5}"/>
              </a:ext>
            </a:extLst>
          </p:cNvPr>
          <p:cNvCxnSpPr>
            <a:cxnSpLocks/>
            <a:stCxn id="72" idx="3"/>
            <a:endCxn id="73" idx="1"/>
          </p:cNvCxnSpPr>
          <p:nvPr/>
        </p:nvCxnSpPr>
        <p:spPr>
          <a:xfrm>
            <a:off x="5590903" y="9477353"/>
            <a:ext cx="143800" cy="0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08" name="直线箭头连接符 507">
            <a:extLst>
              <a:ext uri="{FF2B5EF4-FFF2-40B4-BE49-F238E27FC236}">
                <a16:creationId xmlns:a16="http://schemas.microsoft.com/office/drawing/2014/main" id="{94EEC533-41C8-CA7E-27CC-FD49644E550F}"/>
              </a:ext>
            </a:extLst>
          </p:cNvPr>
          <p:cNvCxnSpPr>
            <a:cxnSpLocks/>
            <a:stCxn id="73" idx="3"/>
            <a:endCxn id="74" idx="1"/>
          </p:cNvCxnSpPr>
          <p:nvPr/>
        </p:nvCxnSpPr>
        <p:spPr>
          <a:xfrm>
            <a:off x="6558616" y="9477353"/>
            <a:ext cx="135078" cy="0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11" name="直线箭头连接符 510">
            <a:extLst>
              <a:ext uri="{FF2B5EF4-FFF2-40B4-BE49-F238E27FC236}">
                <a16:creationId xmlns:a16="http://schemas.microsoft.com/office/drawing/2014/main" id="{2CE75D14-0901-0422-D65D-9EF324A6737B}"/>
              </a:ext>
            </a:extLst>
          </p:cNvPr>
          <p:cNvCxnSpPr>
            <a:cxnSpLocks/>
            <a:stCxn id="65" idx="2"/>
            <a:endCxn id="71" idx="0"/>
          </p:cNvCxnSpPr>
          <p:nvPr/>
        </p:nvCxnSpPr>
        <p:spPr>
          <a:xfrm rot="16200000" flipH="1">
            <a:off x="3093245" y="8370071"/>
            <a:ext cx="395287" cy="1485900"/>
          </a:xfrm>
          <a:prstGeom prst="bentConnector3">
            <a:avLst>
              <a:gd name="adj1" fmla="val 22241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28" name="直线箭头连接符 510">
            <a:extLst>
              <a:ext uri="{FF2B5EF4-FFF2-40B4-BE49-F238E27FC236}">
                <a16:creationId xmlns:a16="http://schemas.microsoft.com/office/drawing/2014/main" id="{32AC154B-789F-3B7E-FFD6-8E3A01A8A542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rot="16200000" flipH="1">
            <a:off x="5184778" y="8497862"/>
            <a:ext cx="162713" cy="997743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31" name="直线箭头连接符 510">
            <a:extLst>
              <a:ext uri="{FF2B5EF4-FFF2-40B4-BE49-F238E27FC236}">
                <a16:creationId xmlns:a16="http://schemas.microsoft.com/office/drawing/2014/main" id="{F9678A67-BAFE-2380-E9D7-934A54C3051A}"/>
              </a:ext>
            </a:extLst>
          </p:cNvPr>
          <p:cNvCxnSpPr>
            <a:cxnSpLocks/>
            <a:stCxn id="67" idx="2"/>
            <a:endCxn id="70" idx="0"/>
          </p:cNvCxnSpPr>
          <p:nvPr/>
        </p:nvCxnSpPr>
        <p:spPr>
          <a:xfrm rot="5400000">
            <a:off x="6311110" y="8369275"/>
            <a:ext cx="162713" cy="1254919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34" name="直线箭头连接符 510">
            <a:extLst>
              <a:ext uri="{FF2B5EF4-FFF2-40B4-BE49-F238E27FC236}">
                <a16:creationId xmlns:a16="http://schemas.microsoft.com/office/drawing/2014/main" id="{DDA651DC-3B9B-384D-BCBD-91F97B229725}"/>
              </a:ext>
            </a:extLst>
          </p:cNvPr>
          <p:cNvCxnSpPr>
            <a:cxnSpLocks/>
            <a:stCxn id="68" idx="2"/>
            <a:endCxn id="76" idx="0"/>
          </p:cNvCxnSpPr>
          <p:nvPr/>
        </p:nvCxnSpPr>
        <p:spPr>
          <a:xfrm rot="16200000" flipH="1">
            <a:off x="3497985" y="8589218"/>
            <a:ext cx="243031" cy="2381250"/>
          </a:xfrm>
          <a:prstGeom prst="bentConnector3">
            <a:avLst>
              <a:gd name="adj1" fmla="val 68813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41" name="直线箭头连接符 510">
            <a:extLst>
              <a:ext uri="{FF2B5EF4-FFF2-40B4-BE49-F238E27FC236}">
                <a16:creationId xmlns:a16="http://schemas.microsoft.com/office/drawing/2014/main" id="{F991179A-F99C-157B-3334-61DA2F8EBE98}"/>
              </a:ext>
            </a:extLst>
          </p:cNvPr>
          <p:cNvCxnSpPr>
            <a:cxnSpLocks/>
            <a:stCxn id="69" idx="2"/>
            <a:endCxn id="76" idx="0"/>
          </p:cNvCxnSpPr>
          <p:nvPr/>
        </p:nvCxnSpPr>
        <p:spPr>
          <a:xfrm rot="5400000">
            <a:off x="5231535" y="9322644"/>
            <a:ext cx="157306" cy="1000125"/>
          </a:xfrm>
          <a:prstGeom prst="bentConnector3">
            <a:avLst>
              <a:gd name="adj1" fmla="val 50000"/>
            </a:avLst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45" name="直线箭头连接符 544">
            <a:extLst>
              <a:ext uri="{FF2B5EF4-FFF2-40B4-BE49-F238E27FC236}">
                <a16:creationId xmlns:a16="http://schemas.microsoft.com/office/drawing/2014/main" id="{82E34585-C54B-8D83-948D-2892152CFE12}"/>
              </a:ext>
            </a:extLst>
          </p:cNvPr>
          <p:cNvCxnSpPr>
            <a:cxnSpLocks/>
            <a:stCxn id="75" idx="2"/>
            <a:endCxn id="463" idx="0"/>
          </p:cNvCxnSpPr>
          <p:nvPr/>
        </p:nvCxnSpPr>
        <p:spPr>
          <a:xfrm>
            <a:off x="4810125" y="11487148"/>
            <a:ext cx="2917" cy="94809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50" name="直线箭头连接符 549">
            <a:extLst>
              <a:ext uri="{FF2B5EF4-FFF2-40B4-BE49-F238E27FC236}">
                <a16:creationId xmlns:a16="http://schemas.microsoft.com/office/drawing/2014/main" id="{6969C785-16D9-7482-00B4-F0AC5A862083}"/>
              </a:ext>
            </a:extLst>
          </p:cNvPr>
          <p:cNvCxnSpPr>
            <a:cxnSpLocks/>
            <a:stCxn id="463" idx="2"/>
            <a:endCxn id="470" idx="0"/>
          </p:cNvCxnSpPr>
          <p:nvPr/>
        </p:nvCxnSpPr>
        <p:spPr>
          <a:xfrm>
            <a:off x="4813042" y="12111215"/>
            <a:ext cx="2913" cy="144851"/>
          </a:xfrm>
          <a:prstGeom prst="straightConnector1">
            <a:avLst/>
          </a:prstGeom>
          <a:ln w="10954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7" name="下箭头 16">
            <a:extLst>
              <a:ext uri="{FF2B5EF4-FFF2-40B4-BE49-F238E27FC236}">
                <a16:creationId xmlns:a16="http://schemas.microsoft.com/office/drawing/2014/main" id="{A91A765A-03CA-34AE-EE22-C435C8B07506}"/>
              </a:ext>
            </a:extLst>
          </p:cNvPr>
          <p:cNvSpPr/>
          <p:nvPr/>
        </p:nvSpPr>
        <p:spPr>
          <a:xfrm>
            <a:off x="4810489" y="1233489"/>
            <a:ext cx="190136" cy="134138"/>
          </a:xfrm>
          <a:prstGeom prst="downArrow">
            <a:avLst>
              <a:gd name="adj1" fmla="val 50000"/>
              <a:gd name="adj2" fmla="val 46413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下箭头 22">
            <a:extLst>
              <a:ext uri="{FF2B5EF4-FFF2-40B4-BE49-F238E27FC236}">
                <a16:creationId xmlns:a16="http://schemas.microsoft.com/office/drawing/2014/main" id="{33B75F10-1A36-0229-D973-0870664555A4}"/>
              </a:ext>
            </a:extLst>
          </p:cNvPr>
          <p:cNvSpPr/>
          <p:nvPr/>
        </p:nvSpPr>
        <p:spPr>
          <a:xfrm>
            <a:off x="4810489" y="3291109"/>
            <a:ext cx="190136" cy="134138"/>
          </a:xfrm>
          <a:prstGeom prst="downArrow">
            <a:avLst>
              <a:gd name="adj1" fmla="val 50000"/>
              <a:gd name="adj2" fmla="val 46413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下箭头 23">
            <a:extLst>
              <a:ext uri="{FF2B5EF4-FFF2-40B4-BE49-F238E27FC236}">
                <a16:creationId xmlns:a16="http://schemas.microsoft.com/office/drawing/2014/main" id="{105CD4B9-9223-20C9-574D-8B5BB0E12751}"/>
              </a:ext>
            </a:extLst>
          </p:cNvPr>
          <p:cNvSpPr/>
          <p:nvPr/>
        </p:nvSpPr>
        <p:spPr>
          <a:xfrm>
            <a:off x="4783133" y="5318258"/>
            <a:ext cx="190136" cy="134138"/>
          </a:xfrm>
          <a:prstGeom prst="downArrow">
            <a:avLst>
              <a:gd name="adj1" fmla="val 50000"/>
              <a:gd name="adj2" fmla="val 46413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下箭头 25">
            <a:extLst>
              <a:ext uri="{FF2B5EF4-FFF2-40B4-BE49-F238E27FC236}">
                <a16:creationId xmlns:a16="http://schemas.microsoft.com/office/drawing/2014/main" id="{998B5FFE-DE7A-8B0C-88A7-89CCD6815007}"/>
              </a:ext>
            </a:extLst>
          </p:cNvPr>
          <p:cNvSpPr/>
          <p:nvPr/>
        </p:nvSpPr>
        <p:spPr>
          <a:xfrm>
            <a:off x="4762500" y="8105359"/>
            <a:ext cx="190136" cy="134138"/>
          </a:xfrm>
          <a:prstGeom prst="downArrow">
            <a:avLst>
              <a:gd name="adj1" fmla="val 50000"/>
              <a:gd name="adj2" fmla="val 46413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下箭头 26">
            <a:extLst>
              <a:ext uri="{FF2B5EF4-FFF2-40B4-BE49-F238E27FC236}">
                <a16:creationId xmlns:a16="http://schemas.microsoft.com/office/drawing/2014/main" id="{7587838D-72EC-E98C-0FC2-A0297EEC2369}"/>
              </a:ext>
            </a:extLst>
          </p:cNvPr>
          <p:cNvSpPr/>
          <p:nvPr/>
        </p:nvSpPr>
        <p:spPr>
          <a:xfrm>
            <a:off x="4762500" y="12831428"/>
            <a:ext cx="190136" cy="134138"/>
          </a:xfrm>
          <a:prstGeom prst="downArrow">
            <a:avLst>
              <a:gd name="adj1" fmla="val 50000"/>
              <a:gd name="adj2" fmla="val 46413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72717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768</Words>
  <Application>Microsoft Macintosh PowerPoint</Application>
  <DocSecurity>0</DocSecurity>
  <PresentationFormat>自定义</PresentationFormat>
  <Paragraphs>126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SimSun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赫 郝</cp:lastModifiedBy>
  <cp:revision>1</cp:revision>
  <dcterms:created xsi:type="dcterms:W3CDTF">2026-08-09T10:14:14Z</dcterms:created>
  <dcterms:modified xsi:type="dcterms:W3CDTF">2026-08-23T14:00:23Z</dcterms:modified>
</cp:coreProperties>
</file>