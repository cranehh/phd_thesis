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225759fe714248" /><Relationship Type="http://schemas.openxmlformats.org/officeDocument/2006/relationships/extended-properties" Target="/docProps/app.xml" Id="Rbce25e6194774fcf" /><Relationship Type="http://schemas.openxmlformats.org/officeDocument/2006/relationships/officeDocument" Target="/ppt/presentation.xml" Id="R057295b5c9cc46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1750eca1354fd9"/>
  </p:sldMasterIdLst>
  <p:notesMasterIdLst>
    <p:notesMasterId xmlns:r="http://schemas.openxmlformats.org/officeDocument/2006/relationships" r:id="R6334fda5f3f142e3"/>
  </p:notesMasterIdLst>
  <p:sldIdLst>
    <p:sldId xmlns:r="http://schemas.openxmlformats.org/officeDocument/2006/relationships" id="256" r:id="Re91a4230c33d40ef"/>
  </p:sldIdLst>
  <p:sldSz cx="114300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af268e00d43e9" /><Relationship Type="http://schemas.openxmlformats.org/officeDocument/2006/relationships/slideMaster" Target="/ppt/slideMasters/slideMaster1.xml" Id="Rf31750eca1354fd9" /><Relationship Type="http://schemas.openxmlformats.org/officeDocument/2006/relationships/notesMaster" Target="/ppt/notesMasters/notesMaster1.xml" Id="R6334fda5f3f142e3" /><Relationship Type="http://schemas.openxmlformats.org/officeDocument/2006/relationships/presProps" Target="/ppt/presProps.xml" Id="R69604bc33e9a4dc4" /><Relationship Type="http://schemas.openxmlformats.org/officeDocument/2006/relationships/tableStyles" Target="/ppt/tableStyles.xml" Id="R2814fe93c2a6405a" /><Relationship Type="http://schemas.openxmlformats.org/officeDocument/2006/relationships/slide" Target="/ppt/slides/slide1.xml" Id="Re91a4230c33d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4d111d93a46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3a33eeeb64082" /><Relationship Type="http://schemas.openxmlformats.org/officeDocument/2006/relationships/notesMaster" Target="/ppt/notesMasters/notesMaster1.xml" Id="R04939f9bf25b44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LaTeX/TikZ figure; checked against demo3.pdf, PDF page 207 / printed page 189 (2026-08-11).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c2236bd6a44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fa7b270c204d40" /><Relationship Type="http://schemas.openxmlformats.org/officeDocument/2006/relationships/slideLayout" Target="/ppt/slideLayouts/slideLayout1.xml" Id="R4ad5b7877f914d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d5b7877f91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b3b32e7164209" /><Relationship Type="http://schemas.openxmlformats.org/officeDocument/2006/relationships/notesSlide" Target="/ppt/notesSlides/notesSlide1.xml" Id="Rd34a86d341494e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nnector-id-sentinel">
            <a:extLst xmlns:a="http://schemas.openxmlformats.org/drawingml/2006/main">
              <a:ext uri="{FF2B5EF4-FFF2-40B4-BE49-F238E27FC236}">
                <a16:creationId xmlns:a16="http://schemas.microsoft.com/office/drawing/2014/main" id="{B410479C-10F7-4D78-8E56-1780D4BB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anchor-unheard">
            <a:extLst xmlns:a="http://schemas.openxmlformats.org/drawingml/2006/main">
              <a:ext uri="{FF2B5EF4-FFF2-40B4-BE49-F238E27FC236}">
                <a16:creationId xmlns:a16="http://schemas.microsoft.com/office/drawing/2014/main" id="{0C4EDEA6-D731-45DE-93D3-1D25CDEC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anchor-heard">
            <a:extLst xmlns:a="http://schemas.openxmlformats.org/drawingml/2006/main">
              <a:ext uri="{FF2B5EF4-FFF2-40B4-BE49-F238E27FC236}">
                <a16:creationId xmlns:a16="http://schemas.microsoft.com/office/drawing/2014/main" id="{82491928-DAC0-44C2-BF2C-E9F81C9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anchor-trial">
            <a:extLst xmlns:a="http://schemas.openxmlformats.org/drawingml/2006/main">
              <a:ext uri="{FF2B5EF4-FFF2-40B4-BE49-F238E27FC236}">
                <a16:creationId xmlns:a16="http://schemas.microsoft.com/office/drawing/2014/main" id="{350967E9-F2A1-4B7B-8E85-6FC06706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subscribed">
            <a:extLst xmlns:a="http://schemas.openxmlformats.org/drawingml/2006/main">
              <a:ext uri="{FF2B5EF4-FFF2-40B4-BE49-F238E27FC236}">
                <a16:creationId xmlns:a16="http://schemas.microsoft.com/office/drawing/2014/main" id="{004ADC49-6758-48F1-BD4C-5D4139BE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churned">
            <a:extLst xmlns:a="http://schemas.openxmlformats.org/drawingml/2006/main">
              <a:ext uri="{FF2B5EF4-FFF2-40B4-BE49-F238E27FC236}">
                <a16:creationId xmlns:a16="http://schemas.microsoft.com/office/drawing/2014/main" id="{419992B0-985C-4F33-BC80-73194DA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3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905000" y="92487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6765" cap="flat">
            <a:solidFill>
              <a:srgbClr val="000000"/>
            </a:solidFill>
            <a:prstDash val="solid"/>
            <a:miter/>
            <a:tailEnd type="triangle" w="sm" len="lg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53000" y="92487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6765" cap="flat">
            <a:solidFill>
              <a:srgbClr val="000000"/>
            </a:solidFill>
            <a:prstDash val="solid"/>
            <a:miter/>
            <a:tailEnd type="triangle" w="sm" len="lg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001000" y="92487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6765" cap="flat">
            <a:solidFill>
              <a:srgbClr val="000000"/>
            </a:solidFill>
            <a:prstDash val="solid"/>
            <a:miter/>
            <a:tailEnd type="triangle" w="sm" len="lg"/>
          </a:ln>
        </p:spPr>
      </p:cxnSp>
      <p:cxnSp>
        <p:nvCxnSpPr>
          <p:cNvPr id="32" name=""/>
          <p:cNvCxnSpPr>
            <a:stCxn xmlns:a="http://schemas.openxmlformats.org/drawingml/2006/main" id="5" idx="2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1180624"/>
            <a:ext cx="2286000" cy="1268254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6765">
            <a:solidFill>
              <a:srgbClr val="000000"/>
            </a:solidFill>
            <a:prstDash val="solid"/>
            <a:miter/>
            <a:tailEnd type="triangle" w="sm" len="lg"/>
          </a:ln>
        </p:spPr>
      </p:cxnSp>
      <p:cxnSp>
        <p:nvCxnSpPr>
          <p:cNvPr id="33" name=""/>
          <p:cNvCxnSpPr>
            <a:stCxn xmlns:a="http://schemas.openxmlformats.org/drawingml/2006/main" id="6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7239000" y="1180624"/>
            <a:ext cx="0" cy="1012507"/>
          </a:xfrm>
          <a:prstGeom xmlns:a="http://schemas.openxmlformats.org/drawingml/2006/main" prst="straightConnector1">
            <a:avLst/>
          </a:prstGeom>
          <a:ln xmlns:a="http://schemas.openxmlformats.org/drawingml/2006/main" w="26765" cap="flat">
            <a:solidFill>
              <a:srgbClr val="000000"/>
            </a:solidFill>
            <a:prstDash val="solid"/>
            <a:miter/>
            <a:tailEnd type="triangle" w="sm" len="lg"/>
          </a:ln>
        </p:spPr>
      </p:cxnSp>
      <p:sp>
        <p:nvSpPr>
          <p:cNvPr id="12" name="label-diffusion">
            <a:extLst xmlns:a="http://schemas.openxmlformats.org/drawingml/2006/main">
              <a:ext uri="{FF2B5EF4-FFF2-40B4-BE49-F238E27FC236}">
                <a16:creationId xmlns:a16="http://schemas.microsoft.com/office/drawing/2014/main" id="{E7EF377C-07C6-46D1-A320-FF7E49D7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47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扩散传播＋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营销触达</a:t>
            </a:r>
          </a:p>
        </p:txBody>
      </p:sp>
      <p:sp>
        <p:nvSpPr>
          <p:cNvPr id="13" name="label-shift-intention">
            <a:extLst xmlns:a="http://schemas.openxmlformats.org/drawingml/2006/main">
              <a:ext uri="{FF2B5EF4-FFF2-40B4-BE49-F238E27FC236}">
                <a16:creationId xmlns:a16="http://schemas.microsoft.com/office/drawing/2014/main" id="{B93F3659-905D-47B1-B509-D9CA3733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477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单次出行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转移意愿</a:t>
            </a:r>
          </a:p>
        </p:txBody>
      </p:sp>
      <p:sp>
        <p:nvSpPr>
          <p:cNvPr id="14" name="label-subscribe">
            <a:extLst xmlns:a="http://schemas.openxmlformats.org/drawingml/2006/main">
              <a:ext uri="{FF2B5EF4-FFF2-40B4-BE49-F238E27FC236}">
                <a16:creationId xmlns:a16="http://schemas.microsoft.com/office/drawing/2014/main" id="{5B466585-33B2-41B8-8766-D2D338E6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4775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试用 </a:t>
            </a:r>
            <a:r>
              <a:rPr sz="17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≥ 2</a:t>
            </a: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次后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订阅并选择套餐</a:t>
            </a:r>
          </a:p>
        </p:txBody>
      </p:sp>
      <p:sp>
        <p:nvSpPr>
          <p:cNvPr id="15" name="label-retry">
            <a:extLst xmlns:a="http://schemas.openxmlformats.org/drawingml/2006/main">
              <a:ext uri="{FF2B5EF4-FFF2-40B4-BE49-F238E27FC236}">
                <a16:creationId xmlns:a16="http://schemas.microsoft.com/office/drawing/2014/main" id="{9DC9C14A-9329-464F-B76C-3F6ED362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2397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次周起可重新试用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（试用次数清零）</a:t>
            </a:r>
          </a:p>
        </p:txBody>
      </p:sp>
      <p:sp>
        <p:nvSpPr>
          <p:cNvPr id="16" name="label-no-renewal">
            <a:extLst xmlns:a="http://schemas.openxmlformats.org/drawingml/2006/main">
              <a:ext uri="{FF2B5EF4-FFF2-40B4-BE49-F238E27FC236}">
                <a16:creationId xmlns:a16="http://schemas.microsoft.com/office/drawing/2014/main" id="{9A794E37-1C04-421B-B26D-5A8BC7CA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33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727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7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账期末未续订</a:t>
            </a:r>
          </a:p>
        </p:txBody>
      </p:sp>
      <p:sp>
        <p:nvSpPr>
          <p:cNvPr id="17" name="state-unheard">
            <a:extLst xmlns:a="http://schemas.openxmlformats.org/drawingml/2006/main">
              <a:ext uri="{FF2B5EF4-FFF2-40B4-BE49-F238E27FC236}">
                <a16:creationId xmlns:a16="http://schemas.microsoft.com/office/drawing/2014/main" id="{B9BD13CF-D0CF-4FF1-9320-F4045CFC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92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133350" tIns="128588" rIns="133350" bIns="1285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92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92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未听说</a:t>
            </a:r>
          </a:p>
        </p:txBody>
      </p:sp>
      <p:sp>
        <p:nvSpPr>
          <p:cNvPr id="18" name="state-heard">
            <a:extLst xmlns:a="http://schemas.openxmlformats.org/drawingml/2006/main">
              <a:ext uri="{FF2B5EF4-FFF2-40B4-BE49-F238E27FC236}">
                <a16:creationId xmlns:a16="http://schemas.microsoft.com/office/drawing/2014/main" id="{80E02E7D-B310-46CE-BD9F-8922072F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92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133350" tIns="128588" rIns="133350" bIns="1285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92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92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已听说</a:t>
            </a:r>
          </a:p>
        </p:txBody>
      </p:sp>
      <p:sp>
        <p:nvSpPr>
          <p:cNvPr id="19" name="state-trial">
            <a:extLst xmlns:a="http://schemas.openxmlformats.org/drawingml/2006/main">
              <a:ext uri="{FF2B5EF4-FFF2-40B4-BE49-F238E27FC236}">
                <a16:creationId xmlns:a16="http://schemas.microsoft.com/office/drawing/2014/main" id="{FE8646B6-00E3-4213-A0A0-D47579B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92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133350" tIns="128588" rIns="133350" bIns="1285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92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92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试用中</a:t>
            </a:r>
          </a:p>
        </p:txBody>
      </p:sp>
      <p:sp>
        <p:nvSpPr>
          <p:cNvPr id="20" name="state-subscribed">
            <a:extLst xmlns:a="http://schemas.openxmlformats.org/drawingml/2006/main">
              <a:ext uri="{FF2B5EF4-FFF2-40B4-BE49-F238E27FC236}">
                <a16:creationId xmlns:a16="http://schemas.microsoft.com/office/drawing/2014/main" id="{C86CAA1B-5AC8-4CD4-808B-108C5D6F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9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92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133350" tIns="128588" rIns="133350" bIns="1285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92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92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已订阅</a:t>
            </a:r>
          </a:p>
        </p:txBody>
      </p:sp>
      <p:sp>
        <p:nvSpPr>
          <p:cNvPr id="21" name="state-churned">
            <a:extLst xmlns:a="http://schemas.openxmlformats.org/drawingml/2006/main">
              <a:ext uri="{FF2B5EF4-FFF2-40B4-BE49-F238E27FC236}">
                <a16:creationId xmlns:a16="http://schemas.microsoft.com/office/drawing/2014/main" id="{9BAB7827-0252-47AB-ACF4-7BB95CAD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3131"/>
            <a:ext cx="1524000" cy="511493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92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133350" tIns="128588" rIns="133350" bIns="1285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92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92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已流失</a:t>
            </a:r>
          </a:p>
        </p:txBody>
      </p:sp>
      <p:sp>
        <p:nvSpPr>
          <p:cNvPr id="22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99C04F80-8527-4076-861A-7DE4892F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146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89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>
                <a:latin typeface="SimSun"/>
                <a:ea typeface="SimSun"/>
                <a:cs typeface="SimSun"/>
              </a:rPr>
              <a:t>图</a:t>
            </a:r>
            <a:r>
              <a:rPr>
                <a:latin typeface="Times New Roman"/>
                <a:ea typeface="Times New Roman"/>
                <a:cs typeface="Times New Roman"/>
              </a:rPr>
              <a:t> 7-3　</a:t>
            </a:r>
            <a:r>
              <a:rPr>
                <a:latin typeface="SimSun"/>
                <a:ea typeface="SimSun"/>
                <a:cs typeface="SimSun"/>
              </a:rPr>
              <a:t>智能体所处状态间转移规则</a:t>
            </a:r>
          </a:p>
        </p:txBody>
      </p:sp>
    </p:spTree>
    <p:extLst>
      <p:ext uri="{BB962C8B-B14F-4D97-AF65-F5344CB8AC3E}">
        <p14:creationId xmlns:p14="http://schemas.microsoft.com/office/powerpoint/2010/main" val="2046724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2026-08-11T05:33:55.0140000Z</dcterms:created>
  <dcterms:modified xsi:type="dcterms:W3CDTF">2026-08-11T05:33:55.0140000Z</dcterms:modified>
</coreProperties>
</file>