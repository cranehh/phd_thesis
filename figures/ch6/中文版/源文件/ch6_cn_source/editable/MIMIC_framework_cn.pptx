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652967" cy="801471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74320" y="283464"/>
            <a:ext cx="384048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13232" y="164592"/>
            <a:ext cx="1280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结构关系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011680" y="283464"/>
            <a:ext cx="384048" cy="0"/>
          </a:xfrm>
          <a:prstGeom prst="line">
            <a:avLst/>
          </a:prstGeom>
          <a:ln w="4064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450592" y="164592"/>
            <a:ext cx="1280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测量关系</a:t>
            </a:r>
          </a:p>
        </p:txBody>
      </p:sp>
      <p:sp>
        <p:nvSpPr>
          <p:cNvPr id="6" name="Rectangle 5"/>
          <p:cNvSpPr/>
          <p:nvPr/>
        </p:nvSpPr>
        <p:spPr>
          <a:xfrm>
            <a:off x="4160520" y="164592"/>
            <a:ext cx="274320" cy="237744"/>
          </a:xfrm>
          <a:prstGeom prst="rect">
            <a:avLst/>
          </a:prstGeom>
          <a:solidFill>
            <a:srgbClr val="E8E8E8"/>
          </a:solidFill>
          <a:ln w="12700">
            <a:solidFill>
              <a:srgbClr val="747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100" b="0" i="0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98848" y="164592"/>
            <a:ext cx="1280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观测变量</a:t>
            </a:r>
          </a:p>
        </p:txBody>
      </p:sp>
      <p:sp>
        <p:nvSpPr>
          <p:cNvPr id="8" name="Oval 7"/>
          <p:cNvSpPr/>
          <p:nvPr/>
        </p:nvSpPr>
        <p:spPr>
          <a:xfrm>
            <a:off x="5989320" y="146304"/>
            <a:ext cx="384048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100" b="0" i="0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64592"/>
            <a:ext cx="1828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不可观测变量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6304" y="640080"/>
            <a:ext cx="2487168" cy="2884932"/>
          </a:xfrm>
          <a:prstGeom prst="rect">
            <a:avLst/>
          </a:prstGeom>
          <a:solidFill>
            <a:srgbClr val="FFFFFF"/>
          </a:solidFill>
          <a:ln w="15875">
            <a:solidFill>
              <a:srgbClr val="747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100" b="0" i="0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" y="713231"/>
            <a:ext cx="248716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i="1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社会经济属性变量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8" y="1097280"/>
            <a:ext cx="2194560" cy="329184"/>
          </a:xfrm>
          <a:prstGeom prst="rect">
            <a:avLst/>
          </a:prstGeom>
          <a:solidFill>
            <a:srgbClr val="E8E8E8"/>
          </a:solidFill>
          <a:ln w="12700">
            <a:solidFill>
              <a:srgbClr val="747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100" b="0" i="1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年龄：≤24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" y="1484071"/>
            <a:ext cx="2194560" cy="329184"/>
          </a:xfrm>
          <a:prstGeom prst="rect">
            <a:avLst/>
          </a:prstGeom>
          <a:solidFill>
            <a:srgbClr val="E8E8E8"/>
          </a:solidFill>
          <a:ln w="12700">
            <a:solidFill>
              <a:srgbClr val="747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100" b="0" i="1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年龄：25–44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" y="1870862"/>
            <a:ext cx="2194560" cy="329184"/>
          </a:xfrm>
          <a:prstGeom prst="rect">
            <a:avLst/>
          </a:prstGeom>
          <a:solidFill>
            <a:srgbClr val="E8E8E8"/>
          </a:solidFill>
          <a:ln w="12700">
            <a:solidFill>
              <a:srgbClr val="747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100" b="0" i="1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年龄：45–60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" y="2257653"/>
            <a:ext cx="2194560" cy="329184"/>
          </a:xfrm>
          <a:prstGeom prst="rect">
            <a:avLst/>
          </a:prstGeom>
          <a:solidFill>
            <a:srgbClr val="E8E8E8"/>
          </a:solidFill>
          <a:ln w="12700">
            <a:solidFill>
              <a:srgbClr val="747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100" b="0" i="1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职业：学生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" y="2644444"/>
            <a:ext cx="2194560" cy="329184"/>
          </a:xfrm>
          <a:prstGeom prst="rect">
            <a:avLst/>
          </a:prstGeom>
          <a:solidFill>
            <a:srgbClr val="E8E8E8"/>
          </a:solidFill>
          <a:ln w="12700">
            <a:solidFill>
              <a:srgbClr val="747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100" b="0" i="1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收入：&lt;6000元/月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2608" y="3031236"/>
            <a:ext cx="2194560" cy="329184"/>
          </a:xfrm>
          <a:prstGeom prst="rect">
            <a:avLst/>
          </a:prstGeom>
          <a:solidFill>
            <a:srgbClr val="E8E8E8"/>
          </a:solidFill>
          <a:ln w="12700">
            <a:solidFill>
              <a:srgbClr val="747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100" b="0" i="1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收入：6001–20000元/月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6304" y="3689604"/>
            <a:ext cx="2487168" cy="3658514"/>
          </a:xfrm>
          <a:prstGeom prst="rect">
            <a:avLst/>
          </a:prstGeom>
          <a:solidFill>
            <a:srgbClr val="FFFFFF"/>
          </a:solidFill>
          <a:ln w="15875">
            <a:solidFill>
              <a:srgbClr val="747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100" b="0" i="0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" y="3762756"/>
            <a:ext cx="248716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i="1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出行模式变量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" y="4146804"/>
            <a:ext cx="2194560" cy="329184"/>
          </a:xfrm>
          <a:prstGeom prst="rect">
            <a:avLst/>
          </a:prstGeom>
          <a:solidFill>
            <a:srgbClr val="E8E8E8"/>
          </a:solidFill>
          <a:ln w="12700">
            <a:solidFill>
              <a:srgbClr val="747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050" b="0" i="1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每周出行频率：≥7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2608" y="4533595"/>
            <a:ext cx="2194560" cy="329184"/>
          </a:xfrm>
          <a:prstGeom prst="rect">
            <a:avLst/>
          </a:prstGeom>
          <a:solidFill>
            <a:srgbClr val="E8E8E8"/>
          </a:solidFill>
          <a:ln w="12700">
            <a:solidFill>
              <a:srgbClr val="747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050" b="0" i="1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每周出行距离：≥20km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" y="4920386"/>
            <a:ext cx="2194560" cy="329184"/>
          </a:xfrm>
          <a:prstGeom prst="rect">
            <a:avLst/>
          </a:prstGeom>
          <a:solidFill>
            <a:srgbClr val="E8E8E8"/>
          </a:solidFill>
          <a:ln w="12700">
            <a:solidFill>
              <a:srgbClr val="747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050" b="0" i="1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主要出行目的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2608" y="5307177"/>
            <a:ext cx="2194560" cy="329184"/>
          </a:xfrm>
          <a:prstGeom prst="rect">
            <a:avLst/>
          </a:prstGeom>
          <a:solidFill>
            <a:srgbClr val="E8E8E8"/>
          </a:solidFill>
          <a:ln w="12700">
            <a:solidFill>
              <a:srgbClr val="747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050" b="0" i="1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每周公交频率：≥10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2608" y="5693968"/>
            <a:ext cx="2194560" cy="329184"/>
          </a:xfrm>
          <a:prstGeom prst="rect">
            <a:avLst/>
          </a:prstGeom>
          <a:solidFill>
            <a:srgbClr val="E8E8E8"/>
          </a:solidFill>
          <a:ln w="12700">
            <a:solidFill>
              <a:srgbClr val="747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050" b="0" i="1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每周地铁频率：≥10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8" y="6080760"/>
            <a:ext cx="2194560" cy="329184"/>
          </a:xfrm>
          <a:prstGeom prst="rect">
            <a:avLst/>
          </a:prstGeom>
          <a:solidFill>
            <a:srgbClr val="E8E8E8"/>
          </a:solidFill>
          <a:ln w="12700">
            <a:solidFill>
              <a:srgbClr val="747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050" b="0" i="1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每周出租/网约车频率：≥10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8" y="6467551"/>
            <a:ext cx="2194560" cy="329184"/>
          </a:xfrm>
          <a:prstGeom prst="rect">
            <a:avLst/>
          </a:prstGeom>
          <a:solidFill>
            <a:srgbClr val="E8E8E8"/>
          </a:solidFill>
          <a:ln w="12700">
            <a:solidFill>
              <a:srgbClr val="747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050" b="0" i="1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每周电单车频率：≥10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2608" y="6854342"/>
            <a:ext cx="2194560" cy="329184"/>
          </a:xfrm>
          <a:prstGeom prst="rect">
            <a:avLst/>
          </a:prstGeom>
          <a:solidFill>
            <a:srgbClr val="E8E8E8"/>
          </a:solidFill>
          <a:ln w="12700">
            <a:solidFill>
              <a:srgbClr val="747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050" b="0" i="1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每周自行车频率：≥10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61888" y="932688"/>
            <a:ext cx="2560320" cy="2103120"/>
          </a:xfrm>
          <a:prstGeom prst="rect">
            <a:avLst/>
          </a:prstGeom>
          <a:solidFill>
            <a:srgbClr val="FFFFFF"/>
          </a:solidFill>
          <a:ln w="15875">
            <a:solidFill>
              <a:srgbClr val="747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100" b="0" i="0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1024128"/>
            <a:ext cx="2048255" cy="246888"/>
          </a:xfrm>
          <a:prstGeom prst="rect">
            <a:avLst/>
          </a:prstGeom>
          <a:solidFill>
            <a:srgbClr val="E8E8E8"/>
          </a:solidFill>
          <a:ln w="12700">
            <a:solidFill>
              <a:srgbClr val="747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100" b="1" i="1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I₁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1303020"/>
            <a:ext cx="2048255" cy="246888"/>
          </a:xfrm>
          <a:prstGeom prst="rect">
            <a:avLst/>
          </a:prstGeom>
          <a:solidFill>
            <a:srgbClr val="E8E8E8"/>
          </a:solidFill>
          <a:ln w="12700">
            <a:solidFill>
              <a:srgbClr val="747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100" b="1" i="1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I₂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1581912"/>
            <a:ext cx="2048255" cy="246888"/>
          </a:xfrm>
          <a:prstGeom prst="rect">
            <a:avLst/>
          </a:prstGeom>
          <a:solidFill>
            <a:srgbClr val="E8E8E8"/>
          </a:solidFill>
          <a:ln w="12700">
            <a:solidFill>
              <a:srgbClr val="747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100" b="1" i="1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I₃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1860804"/>
            <a:ext cx="2048255" cy="246888"/>
          </a:xfrm>
          <a:prstGeom prst="rect">
            <a:avLst/>
          </a:prstGeom>
          <a:solidFill>
            <a:srgbClr val="E8E8E8"/>
          </a:solidFill>
          <a:ln w="12700">
            <a:solidFill>
              <a:srgbClr val="747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100" b="1" i="1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I₄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2139696"/>
            <a:ext cx="2048255" cy="246888"/>
          </a:xfrm>
          <a:prstGeom prst="rect">
            <a:avLst/>
          </a:prstGeom>
          <a:solidFill>
            <a:srgbClr val="E8E8E8"/>
          </a:solidFill>
          <a:ln w="12700">
            <a:solidFill>
              <a:srgbClr val="747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100" b="1" i="1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I₅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2418588"/>
            <a:ext cx="2048255" cy="246888"/>
          </a:xfrm>
          <a:prstGeom prst="rect">
            <a:avLst/>
          </a:prstGeom>
          <a:solidFill>
            <a:srgbClr val="E8E8E8"/>
          </a:solidFill>
          <a:ln w="12700">
            <a:solidFill>
              <a:srgbClr val="747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100" b="1" i="1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I₆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2697480"/>
            <a:ext cx="2048255" cy="246888"/>
          </a:xfrm>
          <a:prstGeom prst="rect">
            <a:avLst/>
          </a:prstGeom>
          <a:solidFill>
            <a:srgbClr val="E8E8E8"/>
          </a:solidFill>
          <a:ln w="12700">
            <a:solidFill>
              <a:srgbClr val="747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100" b="1" i="1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I₇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61888" y="3127248"/>
            <a:ext cx="2560320" cy="1545336"/>
          </a:xfrm>
          <a:prstGeom prst="rect">
            <a:avLst/>
          </a:prstGeom>
          <a:solidFill>
            <a:srgbClr val="FFFFFF"/>
          </a:solidFill>
          <a:ln w="15875">
            <a:solidFill>
              <a:srgbClr val="747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100" b="0" i="0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/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3218688"/>
            <a:ext cx="2048255" cy="246888"/>
          </a:xfrm>
          <a:prstGeom prst="rect">
            <a:avLst/>
          </a:prstGeom>
          <a:solidFill>
            <a:srgbClr val="E8E8E8"/>
          </a:solidFill>
          <a:ln w="12700">
            <a:solidFill>
              <a:srgbClr val="747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100" b="1" i="1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I₈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3497580"/>
            <a:ext cx="2048255" cy="246888"/>
          </a:xfrm>
          <a:prstGeom prst="rect">
            <a:avLst/>
          </a:prstGeom>
          <a:solidFill>
            <a:srgbClr val="E8E8E8"/>
          </a:solidFill>
          <a:ln w="12700">
            <a:solidFill>
              <a:srgbClr val="747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100" b="1" i="1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I₉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3776472"/>
            <a:ext cx="2048255" cy="246888"/>
          </a:xfrm>
          <a:prstGeom prst="rect">
            <a:avLst/>
          </a:prstGeom>
          <a:solidFill>
            <a:srgbClr val="E8E8E8"/>
          </a:solidFill>
          <a:ln w="12700">
            <a:solidFill>
              <a:srgbClr val="747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100" b="1" i="1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I₁₀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4055364"/>
            <a:ext cx="2048255" cy="246888"/>
          </a:xfrm>
          <a:prstGeom prst="rect">
            <a:avLst/>
          </a:prstGeom>
          <a:solidFill>
            <a:srgbClr val="E8E8E8"/>
          </a:solidFill>
          <a:ln w="12700">
            <a:solidFill>
              <a:srgbClr val="747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100" b="1" i="1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I₁₁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4334256"/>
            <a:ext cx="2048255" cy="246888"/>
          </a:xfrm>
          <a:prstGeom prst="rect">
            <a:avLst/>
          </a:prstGeom>
          <a:solidFill>
            <a:srgbClr val="E8E8E8"/>
          </a:solidFill>
          <a:ln w="12700">
            <a:solidFill>
              <a:srgbClr val="747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100" b="1" i="1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I₁₂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61888" y="4764024"/>
            <a:ext cx="2560320" cy="708660"/>
          </a:xfrm>
          <a:prstGeom prst="rect">
            <a:avLst/>
          </a:prstGeom>
          <a:solidFill>
            <a:srgbClr val="FFFFFF"/>
          </a:solidFill>
          <a:ln w="15875">
            <a:solidFill>
              <a:srgbClr val="747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100" b="0" i="0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/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4855464"/>
            <a:ext cx="2048255" cy="246888"/>
          </a:xfrm>
          <a:prstGeom prst="rect">
            <a:avLst/>
          </a:prstGeom>
          <a:solidFill>
            <a:srgbClr val="E8E8E8"/>
          </a:solidFill>
          <a:ln w="12700">
            <a:solidFill>
              <a:srgbClr val="747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100" b="1" i="1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I₁₃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20" y="5134356"/>
            <a:ext cx="2048255" cy="246888"/>
          </a:xfrm>
          <a:prstGeom prst="rect">
            <a:avLst/>
          </a:prstGeom>
          <a:solidFill>
            <a:srgbClr val="E8E8E8"/>
          </a:solidFill>
          <a:ln w="12700">
            <a:solidFill>
              <a:srgbClr val="747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100" b="1" i="1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I₁₄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61888" y="5564124"/>
            <a:ext cx="2560320" cy="708660"/>
          </a:xfrm>
          <a:prstGeom prst="rect">
            <a:avLst/>
          </a:prstGeom>
          <a:solidFill>
            <a:srgbClr val="FFFFFF"/>
          </a:solidFill>
          <a:ln w="15875">
            <a:solidFill>
              <a:srgbClr val="747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100" b="0" i="0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/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5655564"/>
            <a:ext cx="2048255" cy="246888"/>
          </a:xfrm>
          <a:prstGeom prst="rect">
            <a:avLst/>
          </a:prstGeom>
          <a:solidFill>
            <a:srgbClr val="E8E8E8"/>
          </a:solidFill>
          <a:ln w="12700">
            <a:solidFill>
              <a:srgbClr val="747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100" b="1" i="1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I₁₅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17920" y="5934456"/>
            <a:ext cx="2048255" cy="246888"/>
          </a:xfrm>
          <a:prstGeom prst="rect">
            <a:avLst/>
          </a:prstGeom>
          <a:solidFill>
            <a:srgbClr val="E8E8E8"/>
          </a:solidFill>
          <a:ln w="12700">
            <a:solidFill>
              <a:srgbClr val="747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100" b="1" i="1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I₁₆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61888" y="6364224"/>
            <a:ext cx="2560320" cy="987552"/>
          </a:xfrm>
          <a:prstGeom prst="rect">
            <a:avLst/>
          </a:prstGeom>
          <a:solidFill>
            <a:srgbClr val="FFFFFF"/>
          </a:solidFill>
          <a:ln w="15875">
            <a:solidFill>
              <a:srgbClr val="747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100" b="0" i="0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/>
            </a:r>
          </a:p>
        </p:txBody>
      </p:sp>
      <p:sp>
        <p:nvSpPr>
          <p:cNvPr id="49" name="Rectangle 48"/>
          <p:cNvSpPr/>
          <p:nvPr/>
        </p:nvSpPr>
        <p:spPr>
          <a:xfrm>
            <a:off x="6217920" y="6455664"/>
            <a:ext cx="2048255" cy="246888"/>
          </a:xfrm>
          <a:prstGeom prst="rect">
            <a:avLst/>
          </a:prstGeom>
          <a:solidFill>
            <a:srgbClr val="E8E8E8"/>
          </a:solidFill>
          <a:ln w="12700">
            <a:solidFill>
              <a:srgbClr val="747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100" b="1" i="1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I₁₉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17920" y="6734556"/>
            <a:ext cx="2048255" cy="246888"/>
          </a:xfrm>
          <a:prstGeom prst="rect">
            <a:avLst/>
          </a:prstGeom>
          <a:solidFill>
            <a:srgbClr val="E8E8E8"/>
          </a:solidFill>
          <a:ln w="12700">
            <a:solidFill>
              <a:srgbClr val="747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100" b="1" i="1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I₂₀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17920" y="7013448"/>
            <a:ext cx="2048255" cy="246888"/>
          </a:xfrm>
          <a:prstGeom prst="rect">
            <a:avLst/>
          </a:prstGeom>
          <a:solidFill>
            <a:srgbClr val="E8E8E8"/>
          </a:solidFill>
          <a:ln w="12700">
            <a:solidFill>
              <a:srgbClr val="747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100" b="1" i="1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I₂₁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61888" y="512064"/>
            <a:ext cx="2560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1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指标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310128" y="786384"/>
            <a:ext cx="1938528" cy="6565392"/>
          </a:xfrm>
          <a:prstGeom prst="rect">
            <a:avLst/>
          </a:prstGeom>
          <a:noFill/>
          <a:ln w="15875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100" b="0" i="0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/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10128" y="841247"/>
            <a:ext cx="19385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1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潜变量</a:t>
            </a:r>
          </a:p>
        </p:txBody>
      </p:sp>
      <p:sp>
        <p:nvSpPr>
          <p:cNvPr id="55" name="Oval 54"/>
          <p:cNvSpPr/>
          <p:nvPr/>
        </p:nvSpPr>
        <p:spPr>
          <a:xfrm>
            <a:off x="3483863" y="1591056"/>
            <a:ext cx="1591056" cy="7863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150" b="1" i="1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性价比偏好</a:t>
            </a:r>
          </a:p>
        </p:txBody>
      </p:sp>
      <p:sp>
        <p:nvSpPr>
          <p:cNvPr id="56" name="Oval 55"/>
          <p:cNvSpPr/>
          <p:nvPr/>
        </p:nvSpPr>
        <p:spPr>
          <a:xfrm>
            <a:off x="3483863" y="3506724"/>
            <a:ext cx="1591056" cy="7863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150" b="1" i="1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技术接受度</a:t>
            </a:r>
          </a:p>
        </p:txBody>
      </p:sp>
      <p:sp>
        <p:nvSpPr>
          <p:cNvPr id="57" name="Oval 56"/>
          <p:cNvSpPr/>
          <p:nvPr/>
        </p:nvSpPr>
        <p:spPr>
          <a:xfrm>
            <a:off x="3483863" y="4725162"/>
            <a:ext cx="1591056" cy="7863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150" b="1" i="1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计划性偏好</a:t>
            </a:r>
          </a:p>
        </p:txBody>
      </p:sp>
      <p:sp>
        <p:nvSpPr>
          <p:cNvPr id="58" name="Oval 57"/>
          <p:cNvSpPr/>
          <p:nvPr/>
        </p:nvSpPr>
        <p:spPr>
          <a:xfrm>
            <a:off x="3483863" y="5525262"/>
            <a:ext cx="1591056" cy="7863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150" b="1" i="1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环保意识</a:t>
            </a:r>
          </a:p>
        </p:txBody>
      </p:sp>
      <p:sp>
        <p:nvSpPr>
          <p:cNvPr id="59" name="Oval 58"/>
          <p:cNvSpPr/>
          <p:nvPr/>
        </p:nvSpPr>
        <p:spPr>
          <a:xfrm>
            <a:off x="3483863" y="6464808"/>
            <a:ext cx="1591056" cy="7863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150" b="1" i="1">
                <a:solidFill>
                  <a:srgbClr val="000000"/>
                </a:solidFill>
                <a:latin typeface="Times New Roman"/>
                <a:ea typeface="Noto Serif CJK SC"/>
                <a:cs typeface="Noto Serif CJK SC"/>
              </a:rPr>
              <a:t>现状满意度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2633472" y="1168145"/>
            <a:ext cx="676656" cy="2731771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633472" y="1533905"/>
            <a:ext cx="676656" cy="2366011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2633472" y="1899665"/>
            <a:ext cx="676656" cy="2000251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2633472" y="2265426"/>
            <a:ext cx="676656" cy="1634490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633472" y="2631186"/>
            <a:ext cx="676656" cy="1268730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633472" y="2996946"/>
            <a:ext cx="676656" cy="902970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2633472" y="4147261"/>
            <a:ext cx="676656" cy="1771193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2633472" y="4531309"/>
            <a:ext cx="676656" cy="1387145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633472" y="4915357"/>
            <a:ext cx="676656" cy="1003097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2633472" y="5299405"/>
            <a:ext cx="676656" cy="619049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633472" y="5683453"/>
            <a:ext cx="676656" cy="235001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2633472" y="5918454"/>
            <a:ext cx="676656" cy="149047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2633472" y="5918454"/>
            <a:ext cx="676656" cy="533095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2633472" y="5918454"/>
            <a:ext cx="676656" cy="917143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5074920" y="1984248"/>
            <a:ext cx="886968" cy="0"/>
          </a:xfrm>
          <a:prstGeom prst="line">
            <a:avLst/>
          </a:prstGeom>
          <a:ln w="4064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5074920" y="3899916"/>
            <a:ext cx="886968" cy="0"/>
          </a:xfrm>
          <a:prstGeom prst="line">
            <a:avLst/>
          </a:prstGeom>
          <a:ln w="4064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5074920" y="5118354"/>
            <a:ext cx="886968" cy="0"/>
          </a:xfrm>
          <a:prstGeom prst="line">
            <a:avLst/>
          </a:prstGeom>
          <a:ln w="4064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5074920" y="5918454"/>
            <a:ext cx="886968" cy="0"/>
          </a:xfrm>
          <a:prstGeom prst="line">
            <a:avLst/>
          </a:prstGeom>
          <a:ln w="4064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5074920" y="6858000"/>
            <a:ext cx="886968" cy="0"/>
          </a:xfrm>
          <a:prstGeom prst="line">
            <a:avLst/>
          </a:prstGeom>
          <a:ln w="4064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ectangle 78"/>
          <p:cNvSpPr/>
          <p:nvPr/>
        </p:nvSpPr>
        <p:spPr>
          <a:xfrm>
            <a:off x="146304" y="7552944"/>
            <a:ext cx="5102352" cy="457200"/>
          </a:xfrm>
          <a:prstGeom prst="rect">
            <a:avLst/>
          </a:prstGeom>
          <a:solidFill>
            <a:srgbClr val="C6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400" b="1" i="1">
                <a:solidFill>
                  <a:srgbClr val="1F3864"/>
                </a:solidFill>
                <a:latin typeface="Times New Roman"/>
                <a:ea typeface="Noto Serif CJK SC"/>
                <a:cs typeface="Noto Serif CJK SC"/>
              </a:rPr>
              <a:t>结构模型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138927" y="7552944"/>
            <a:ext cx="3383279" cy="457200"/>
          </a:xfrm>
          <a:prstGeom prst="rect">
            <a:avLst/>
          </a:prstGeom>
          <a:solidFill>
            <a:srgbClr val="FB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400" b="1" i="1">
                <a:solidFill>
                  <a:srgbClr val="8A401E"/>
                </a:solidFill>
                <a:latin typeface="Times New Roman"/>
                <a:ea typeface="Noto Serif CJK SC"/>
                <a:cs typeface="Noto Serif CJK SC"/>
              </a:rPr>
              <a:t>测量模型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