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0599" cy="621517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87168" y="274320"/>
            <a:ext cx="530352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87168" y="329184"/>
            <a:ext cx="5303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行为状态形成与转移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2487168" y="3182112"/>
            <a:ext cx="5303520" cy="2743200"/>
          </a:xfrm>
          <a:prstGeom prst="rect">
            <a:avLst/>
          </a:prstGeom>
          <a:solidFill>
            <a:srgbClr val="DDE7F3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7168" y="5614416"/>
            <a:ext cx="5303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单次出行选择与套餐订阅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" y="384048"/>
            <a:ext cx="2212848" cy="2615184"/>
          </a:xfrm>
          <a:prstGeom prst="rect">
            <a:avLst/>
          </a:prstGeom>
          <a:solidFill>
            <a:srgbClr val="ECECEC"/>
          </a:solidFill>
          <a:ln w="1397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" y="457200"/>
            <a:ext cx="2212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初始状态识别变量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932688"/>
            <a:ext cx="2103120" cy="201168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54864" tIns="54864" bIns="27432"/>
          <a:lstStyle/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性别</a:t>
            </a:r>
          </a:p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年龄</a:t>
            </a:r>
          </a:p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月收入</a:t>
            </a:r>
          </a:p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受教育程度</a:t>
            </a:r>
          </a:p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职业</a:t>
            </a:r>
          </a:p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是否拥车</a:t>
            </a:r>
          </a:p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每周各方式出行频率</a:t>
            </a:r>
          </a:p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主要出行方式</a:t>
            </a:r>
          </a:p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潜变量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384048"/>
            <a:ext cx="2212848" cy="2615184"/>
          </a:xfrm>
          <a:prstGeom prst="rect">
            <a:avLst/>
          </a:prstGeom>
          <a:solidFill>
            <a:srgbClr val="ECECEC"/>
          </a:solidFill>
          <a:ln w="1397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57200"/>
            <a:ext cx="2212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行为状态转移变量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0144" y="932688"/>
            <a:ext cx="2103120" cy="201168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54864" tIns="54864" bIns="27432"/>
          <a:lstStyle/>
          <a:p>
            <a:pPr algn="l">
              <a:lnSpc>
                <a:spcPct val="125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体验到的费用节省</a:t>
            </a:r>
          </a:p>
          <a:p>
            <a:pPr algn="l">
              <a:lnSpc>
                <a:spcPct val="125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体验到的时间节省</a:t>
            </a:r>
          </a:p>
          <a:p>
            <a:pPr algn="l">
              <a:lnSpc>
                <a:spcPct val="125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所含方式与方式频率之差</a:t>
            </a:r>
          </a:p>
          <a:p>
            <a:pPr algn="l">
              <a:lnSpc>
                <a:spcPct val="125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套餐价格与月度出行花费之差</a:t>
            </a:r>
          </a:p>
          <a:p>
            <a:pPr algn="l">
              <a:lnSpc>
                <a:spcPct val="125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平均价格系数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" y="3310128"/>
            <a:ext cx="2212848" cy="2468880"/>
          </a:xfrm>
          <a:prstGeom prst="rect">
            <a:avLst/>
          </a:prstGeom>
          <a:solidFill>
            <a:srgbClr val="D3E0F1"/>
          </a:solidFill>
          <a:ln w="1397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383280"/>
            <a:ext cx="2212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单次出行选择变量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3858768"/>
            <a:ext cx="2103120" cy="1828800"/>
          </a:xfrm>
          <a:prstGeom prst="rect">
            <a:avLst/>
          </a:prstGeom>
          <a:solidFill>
            <a:srgbClr val="D3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54864" tIns="54864" bIns="27432"/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无MaaS时的方式选择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出发时间：非高峰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出行距离：&gt;40km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平均轨道车内时间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平均费用节省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平均时间节省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3310128"/>
            <a:ext cx="2212848" cy="2542032"/>
          </a:xfrm>
          <a:prstGeom prst="rect">
            <a:avLst/>
          </a:prstGeom>
          <a:solidFill>
            <a:srgbClr val="D3E0F1"/>
          </a:solidFill>
          <a:ln w="1397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383280"/>
            <a:ext cx="2212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套餐订阅变量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3858768"/>
            <a:ext cx="2103120" cy="1920240"/>
          </a:xfrm>
          <a:prstGeom prst="rect">
            <a:avLst/>
          </a:prstGeom>
          <a:solidFill>
            <a:srgbClr val="D3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54864" tIns="54864" bIns="27432"/>
          <a:lstStyle/>
          <a:p>
            <a:pPr algn="l">
              <a:lnSpc>
                <a:spcPct val="104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套餐自身价格</a:t>
            </a:r>
          </a:p>
          <a:p>
            <a:pPr algn="l">
              <a:lnSpc>
                <a:spcPct val="104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套餐含出租/网约车</a:t>
            </a:r>
          </a:p>
          <a:p>
            <a:pPr algn="l">
              <a:lnSpc>
                <a:spcPct val="104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性别</a:t>
            </a:r>
          </a:p>
          <a:p>
            <a:pPr algn="l">
              <a:lnSpc>
                <a:spcPct val="104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年龄</a:t>
            </a:r>
          </a:p>
          <a:p>
            <a:pPr algn="l">
              <a:lnSpc>
                <a:spcPct val="104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月收入</a:t>
            </a:r>
          </a:p>
          <a:p>
            <a:pPr algn="l">
              <a:lnSpc>
                <a:spcPct val="104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职业</a:t>
            </a:r>
          </a:p>
          <a:p>
            <a:pPr algn="l">
              <a:lnSpc>
                <a:spcPct val="104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自行车/电单车拥有</a:t>
            </a:r>
          </a:p>
          <a:p>
            <a:pPr algn="l">
              <a:lnSpc>
                <a:spcPct val="104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是否持驾照</a:t>
            </a:r>
          </a:p>
          <a:p>
            <a:pPr algn="l">
              <a:lnSpc>
                <a:spcPct val="104000"/>
              </a:lnSpc>
            </a:pPr>
            <a:r>
              <a:rPr sz="96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•  出行模式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1488" y="749808"/>
            <a:ext cx="1847088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初始状态识别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50992" y="749808"/>
            <a:ext cx="1847088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行为状态转移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1298448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T =1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1298448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T =2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1591056"/>
            <a:ext cx="1481328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状态1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44368" y="2395728"/>
            <a:ext cx="1481328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状态S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5584" y="1591056"/>
            <a:ext cx="1481328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状态1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15584" y="2395728"/>
            <a:ext cx="1481328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状态S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2048256"/>
            <a:ext cx="14813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……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4" y="2048256"/>
            <a:ext cx="14813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……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25696" y="1847088"/>
            <a:ext cx="1389888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425696" y="1847088"/>
            <a:ext cx="1389888" cy="804672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425696" y="1847088"/>
            <a:ext cx="1389888" cy="804672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25696" y="2651760"/>
            <a:ext cx="1389888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852928" y="3639312"/>
            <a:ext cx="1755648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单次出行选择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3639312"/>
            <a:ext cx="1755648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套餐订阅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61488" y="4882896"/>
            <a:ext cx="89611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不转移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039" y="4882896"/>
            <a:ext cx="96926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转移至</a:t>
            </a:r>
          </a:p>
          <a:p>
            <a:pPr algn="ctr"/>
            <a:r>
              <a:rPr sz="10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MaaS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73168" y="4937760"/>
            <a:ext cx="56692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" rIns="18000" tIns="9000" bIns="9000"/>
          <a:lstStyle/>
          <a:p>
            <a:pPr algn="ctr"/>
            <a:r>
              <a:rPr sz="9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公交优先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81244" y="4937760"/>
            <a:ext cx="56692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" rIns="18000" tIns="9000" bIns="9000"/>
          <a:lstStyle/>
          <a:p>
            <a:pPr algn="ctr"/>
            <a:r>
              <a:rPr sz="9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地铁畅行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9320" y="4937760"/>
            <a:ext cx="56692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" rIns="18000" tIns="9000" bIns="9000"/>
          <a:lstStyle/>
          <a:p>
            <a:pPr algn="ctr"/>
            <a:r>
              <a:rPr sz="9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优惠出租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97396" y="4937760"/>
            <a:ext cx="56692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" rIns="18000" tIns="9000" bIns="9000"/>
          <a:lstStyle/>
          <a:p>
            <a:pPr algn="ctr"/>
            <a:r>
              <a:rPr sz="9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全能畅行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05472" y="4937760"/>
            <a:ext cx="56692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" rIns="18000" tIns="9000" bIns="9000"/>
          <a:lstStyle/>
          <a:p>
            <a:pPr algn="ctr"/>
            <a:r>
              <a:rPr sz="9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PAYG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2322576" y="969264"/>
            <a:ext cx="438912" cy="44805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7498079" y="969264"/>
            <a:ext cx="457200" cy="44805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685032" y="1188720"/>
            <a:ext cx="0" cy="402336"/>
          </a:xfrm>
          <a:prstGeom prst="line">
            <a:avLst/>
          </a:prstGeom>
          <a:ln w="1397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574536" y="1188720"/>
            <a:ext cx="0" cy="402336"/>
          </a:xfrm>
          <a:prstGeom prst="line">
            <a:avLst/>
          </a:prstGeom>
          <a:ln w="1397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685032" y="2907792"/>
            <a:ext cx="45720" cy="731520"/>
          </a:xfrm>
          <a:prstGeom prst="line">
            <a:avLst/>
          </a:prstGeom>
          <a:ln w="1397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574536" y="2907792"/>
            <a:ext cx="64008" cy="731520"/>
          </a:xfrm>
          <a:prstGeom prst="line">
            <a:avLst/>
          </a:prstGeom>
          <a:ln w="1397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60520" y="2907792"/>
            <a:ext cx="0" cy="731520"/>
          </a:xfrm>
          <a:prstGeom prst="line">
            <a:avLst/>
          </a:prstGeom>
          <a:ln w="1397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206240" y="3054096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单次出行体验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2322576" y="3895344"/>
            <a:ext cx="530352" cy="12801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7516367" y="3895344"/>
            <a:ext cx="438912" cy="12801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3209544" y="4151376"/>
            <a:ext cx="36576" cy="73152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60520" y="4151376"/>
            <a:ext cx="73152" cy="73152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056631" y="4151376"/>
            <a:ext cx="1581913" cy="786384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5664707" y="4151376"/>
            <a:ext cx="973837" cy="786384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6272783" y="4151376"/>
            <a:ext cx="365761" cy="786384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638544" y="4151376"/>
            <a:ext cx="242315" cy="786384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638544" y="4151376"/>
            <a:ext cx="850392" cy="786384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